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7197e6b9e64de1" /><Relationship Type="http://schemas.openxmlformats.org/officeDocument/2006/relationships/extended-properties" Target="/docProps/app.xml" Id="R83e79efd79fa4ca0" /><Relationship Type="http://schemas.openxmlformats.org/officeDocument/2006/relationships/officeDocument" Target="/ppt/presentation.xml" Id="Rd5088332016f4b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9fa41b0daf4768"/>
  </p:sldMasterIdLst>
  <p:notesMasterIdLst>
    <p:notesMasterId xmlns:r="http://schemas.openxmlformats.org/officeDocument/2006/relationships" r:id="R30844906a8854f50"/>
  </p:notesMasterIdLst>
  <p:sldIdLst>
    <p:sldId xmlns:r="http://schemas.openxmlformats.org/officeDocument/2006/relationships" id="256" r:id="Rf60a4c5e7bf04228"/>
    <p:sldId xmlns:r="http://schemas.openxmlformats.org/officeDocument/2006/relationships" id="257" r:id="Ra9357d0421b748d0"/>
    <p:sldId xmlns:r="http://schemas.openxmlformats.org/officeDocument/2006/relationships" id="258" r:id="R7a751efb4d6b4cc5"/>
    <p:sldId xmlns:r="http://schemas.openxmlformats.org/officeDocument/2006/relationships" id="259" r:id="R33f37c6e9fd2499c"/>
    <p:sldId xmlns:r="http://schemas.openxmlformats.org/officeDocument/2006/relationships" id="260" r:id="Re774181926c041d6"/>
    <p:sldId xmlns:r="http://schemas.openxmlformats.org/officeDocument/2006/relationships" id="261" r:id="R40e0ad3b4d3a4e7b"/>
    <p:sldId xmlns:r="http://schemas.openxmlformats.org/officeDocument/2006/relationships" id="262" r:id="Rdef5605ad7214ecc"/>
    <p:sldId xmlns:r="http://schemas.openxmlformats.org/officeDocument/2006/relationships" id="263" r:id="R95329c5ad3a94659"/>
    <p:sldId xmlns:r="http://schemas.openxmlformats.org/officeDocument/2006/relationships" id="264" r:id="R0eb82666755b4f2a"/>
    <p:sldId xmlns:r="http://schemas.openxmlformats.org/officeDocument/2006/relationships" id="265" r:id="Rcdcaf12fbd794e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ee49f30f8d84907" /><Relationship Type="http://schemas.openxmlformats.org/officeDocument/2006/relationships/slideMaster" Target="/ppt/slideMasters/slideMaster1.xml" Id="Ref9fa41b0daf4768" /><Relationship Type="http://schemas.openxmlformats.org/officeDocument/2006/relationships/notesMaster" Target="/ppt/notesMasters/notesMaster1.xml" Id="R30844906a8854f50" /><Relationship Type="http://schemas.openxmlformats.org/officeDocument/2006/relationships/presProps" Target="/ppt/presProps.xml" Id="R036b2371a6dc46e4" /><Relationship Type="http://schemas.openxmlformats.org/officeDocument/2006/relationships/tableStyles" Target="/ppt/tableStyles.xml" Id="R4524c1270b9f4e5c" /><Relationship Type="http://schemas.openxmlformats.org/officeDocument/2006/relationships/slide" Target="/ppt/slides/slide1.xml" Id="Rf60a4c5e7bf04228" /><Relationship Type="http://schemas.openxmlformats.org/officeDocument/2006/relationships/slide" Target="/ppt/slides/slide2.xml" Id="Ra9357d0421b748d0" /><Relationship Type="http://schemas.openxmlformats.org/officeDocument/2006/relationships/slide" Target="/ppt/slides/slide3.xml" Id="R7a751efb4d6b4cc5" /><Relationship Type="http://schemas.openxmlformats.org/officeDocument/2006/relationships/slide" Target="/ppt/slides/slide4.xml" Id="R33f37c6e9fd2499c" /><Relationship Type="http://schemas.openxmlformats.org/officeDocument/2006/relationships/slide" Target="/ppt/slides/slide5.xml" Id="Re774181926c041d6" /><Relationship Type="http://schemas.openxmlformats.org/officeDocument/2006/relationships/slide" Target="/ppt/slides/slide6.xml" Id="R40e0ad3b4d3a4e7b" /><Relationship Type="http://schemas.openxmlformats.org/officeDocument/2006/relationships/slide" Target="/ppt/slides/slide7.xml" Id="Rdef5605ad7214ecc" /><Relationship Type="http://schemas.openxmlformats.org/officeDocument/2006/relationships/slide" Target="/ppt/slides/slide8.xml" Id="R95329c5ad3a94659" /><Relationship Type="http://schemas.openxmlformats.org/officeDocument/2006/relationships/slide" Target="/ppt/slides/slide9.xml" Id="R0eb82666755b4f2a" /><Relationship Type="http://schemas.openxmlformats.org/officeDocument/2006/relationships/slide" Target="/ppt/slides/slide10.xml" Id="Rcdcaf12fbd794e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7d2883ccbe4f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ReleaseGuard">
  <a:themeElements>
    <a:clrScheme name="ReleaseGuard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ReleaseGuar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34f416e80f4a8b" /><Relationship Type="http://schemas.openxmlformats.org/officeDocument/2006/relationships/notesMaster" Target="/ppt/notesMasters/notesMaster1.xml" Id="R5774bc093cc74a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bf849d934c4052" /><Relationship Type="http://schemas.openxmlformats.org/officeDocument/2006/relationships/notesMaster" Target="/ppt/notesMasters/notesMaster1.xml" Id="R7a6eacdfe0c848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3127bc813d04a87" /><Relationship Type="http://schemas.openxmlformats.org/officeDocument/2006/relationships/notesMaster" Target="/ppt/notesMasters/notesMaster1.xml" Id="R9786ee7c44d844b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0501dfb0e64b38" /><Relationship Type="http://schemas.openxmlformats.org/officeDocument/2006/relationships/notesMaster" Target="/ppt/notesMasters/notesMaster1.xml" Id="Re340549e183f4e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c44377d65f4d0e" /><Relationship Type="http://schemas.openxmlformats.org/officeDocument/2006/relationships/notesMaster" Target="/ppt/notesMasters/notesMaster1.xml" Id="R8e90598ddd2345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27121c8ac44a5a" /><Relationship Type="http://schemas.openxmlformats.org/officeDocument/2006/relationships/notesMaster" Target="/ppt/notesMasters/notesMaster1.xml" Id="R9753fa15842345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f9a156afd44eb4" /><Relationship Type="http://schemas.openxmlformats.org/officeDocument/2006/relationships/notesMaster" Target="/ppt/notesMasters/notesMaster1.xml" Id="Rbf3ca8c04f644d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a5ebc839b1c4e93" /><Relationship Type="http://schemas.openxmlformats.org/officeDocument/2006/relationships/notesMaster" Target="/ppt/notesMasters/notesMaster1.xml" Id="R929dcd96e14146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5ebb218d7d4c5d" /><Relationship Type="http://schemas.openxmlformats.org/officeDocument/2006/relationships/notesMaster" Target="/ppt/notesMasters/notesMaster1.xml" Id="Rc1e0130253ce4d3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1658f1850f4887" /><Relationship Type="http://schemas.openxmlformats.org/officeDocument/2006/relationships/notesMaster" Target="/ppt/notesMasters/notesMaster1.xml" Id="Raf90e3c8105941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3d8b4962604c0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57250eeaee489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a565f7e6e4a7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b32bccd01041d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96698ba8b4441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d64c394ddb49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B147F11-8527-434A-B9BF-04F99BEC09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8D381C9-8956-470F-B6FA-1E1EE7EE20E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E32D771-ABC2-4AE8-9D69-E10799E6F0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E82C449-1BCD-48CC-B48D-4EEEFCF73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F2DF52D-96E6-4A2F-AEDE-10416B74F6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CCCC332-8623-4321-8BD1-9A106A352A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05BC781-FEB4-4B70-9E6F-1A4EB1F789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D3E84AA-D28C-4686-A17C-FCB7523C0A2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52BDB2-CB2C-4ADD-B8A9-2BE0267CB8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55C4903-65FE-4846-96B9-F741065A9B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fb147cfdf6417f" /><Relationship Type="http://schemas.openxmlformats.org/officeDocument/2006/relationships/slideLayout" Target="/ppt/slideLayouts/slideLayout1.xml" Id="Rd3067e82a85e429a" /><Relationship Type="http://schemas.openxmlformats.org/officeDocument/2006/relationships/slideLayout" Target="/ppt/slideLayouts/slideLayout2.xml" Id="R948dcc20f31e4a4a" /><Relationship Type="http://schemas.openxmlformats.org/officeDocument/2006/relationships/slideLayout" Target="/ppt/slideLayouts/slideLayout3.xml" Id="Rfc3df8ff8bc247f4" /><Relationship Type="http://schemas.openxmlformats.org/officeDocument/2006/relationships/slideLayout" Target="/ppt/slideLayouts/slideLayout4.xml" Id="Rbff7d643425b4423" /><Relationship Type="http://schemas.openxmlformats.org/officeDocument/2006/relationships/slideLayout" Target="/ppt/slideLayouts/slideLayout5.xml" Id="Rbf8fb7ab695a4bcf" /><Relationship Type="http://schemas.openxmlformats.org/officeDocument/2006/relationships/slideLayout" Target="/ppt/slideLayouts/slideLayout6.xml" Id="Ra188d204416349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067e82a85e429a"/>
    <p:sldLayoutId xmlns:r="http://schemas.openxmlformats.org/officeDocument/2006/relationships" id="2147483650" r:id="R948dcc20f31e4a4a"/>
    <p:sldLayoutId xmlns:r="http://schemas.openxmlformats.org/officeDocument/2006/relationships" id="2147483651" r:id="Rfc3df8ff8bc247f4"/>
    <p:sldLayoutId xmlns:r="http://schemas.openxmlformats.org/officeDocument/2006/relationships" id="2147483652" r:id="Rbff7d643425b4423"/>
    <p:sldLayoutId xmlns:r="http://schemas.openxmlformats.org/officeDocument/2006/relationships" id="2147483653" r:id="Rbf8fb7ab695a4bcf"/>
    <p:sldLayoutId xmlns:r="http://schemas.openxmlformats.org/officeDocument/2006/relationships" id="2147483654" r:id="Ra188d204416349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ReleaseGuard">
  <a:themeElements>
    <a:clrScheme name="ReleaseGuard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ReleaseGuar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042ba8d2734fd3" /><Relationship Type="http://schemas.openxmlformats.org/officeDocument/2006/relationships/notesSlide" Target="/ppt/notesSlides/notesSlide1.xml" Id="R1b5fd2c1bf5046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282b8031a94c28" /><Relationship Type="http://schemas.openxmlformats.org/officeDocument/2006/relationships/image" Target="/ppt/media/image.png" Id="R3d3b61b8adb1498b" /><Relationship Type="http://schemas.openxmlformats.org/officeDocument/2006/relationships/notesSlide" Target="/ppt/notesSlides/notesSlide2.xml" Id="R3f7d0afebe034f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0d33b098ff482f" /><Relationship Type="http://schemas.openxmlformats.org/officeDocument/2006/relationships/notesSlide" Target="/ppt/notesSlides/notesSlide3.xml" Id="R33b3b6d67a5b4b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6dbd56786a4a79" /><Relationship Type="http://schemas.openxmlformats.org/officeDocument/2006/relationships/notesSlide" Target="/ppt/notesSlides/notesSlide4.xml" Id="R10f007bc19454f4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5ab65fc6554dc2" /><Relationship Type="http://schemas.openxmlformats.org/officeDocument/2006/relationships/notesSlide" Target="/ppt/notesSlides/notesSlide5.xml" Id="Rcd36dbce28fe4fa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ba60ea12ee45e1" /><Relationship Type="http://schemas.openxmlformats.org/officeDocument/2006/relationships/notesSlide" Target="/ppt/notesSlides/notesSlide6.xml" Id="R3ab1fc3295da42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4912d1d37a4e30" /><Relationship Type="http://schemas.openxmlformats.org/officeDocument/2006/relationships/image" Target="/ppt/media/image2.png" Id="Rbaafeca79cfd4507" /><Relationship Type="http://schemas.openxmlformats.org/officeDocument/2006/relationships/notesSlide" Target="/ppt/notesSlides/notesSlide7.xml" Id="R9178213f5a2b44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43d1428e4b437d" /><Relationship Type="http://schemas.openxmlformats.org/officeDocument/2006/relationships/image" Target="/ppt/media/image3.png" Id="R5fa8326928534bb6" /><Relationship Type="http://schemas.openxmlformats.org/officeDocument/2006/relationships/notesSlide" Target="/ppt/notesSlides/notesSlide8.xml" Id="R6973e572157540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e72b35d5474346" /><Relationship Type="http://schemas.openxmlformats.org/officeDocument/2006/relationships/notesSlide" Target="/ppt/notesSlides/notesSlide9.xml" Id="Ra1a99438f8a140d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ccda2081d44cc3" /><Relationship Type="http://schemas.openxmlformats.org/officeDocument/2006/relationships/notesSlide" Target="/ppt/notesSlides/notesSlide10.xml" Id="R18cbfdb7265244c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153BE-04FC-4504-9A3C-01A02F27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6B590-0A95-4B93-8655-A900BB20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0"/>
            <a:ext cx="3429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0F2A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0E19C5-A57B-4DD7-9616-EE0C341A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857250"/>
            <a:ext cx="2381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23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F4C4CD-F8F3-43F6-9296-6997B4F9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62375"/>
            <a:ext cx="32385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64E992-C1A9-4AB5-9476-B7977B36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DEVSECOPS CAPSTONE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A3196B-517F-4612-8F20-052B9EF0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723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ReleaseGuard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6DF637-D3A9-47BB-8F5A-BDFFBD79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6286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2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Deployment readiness and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release-risk control center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2C3D19-1A38-4036-9828-29E5F68B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Ship only when the evidence says ready.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17FE5A-E646-4E54-9EB7-84E8FEB9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React  •  FastAPI  •  PostgreSQL  •  Docker  •  Kubernetes  •  AWS EKS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2ABD07-01F2-4AFA-ACD4-CE3E48AA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DevOps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2139918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A120C6-05B8-4965-B457-E1C4B0EC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RELEASEGUARD  / 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6A4E52-ABB6-4754-BBF6-A2EA569A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From informal approval to explainable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DCCA85-1643-4401-B844-3994D1A8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One shared view turns release evidence into a clear deployment decision.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1510C0-FEEB-49AC-B5B7-BD76F36C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FF0A9-7075-4B89-8A82-C6ACA656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F4444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007803-8DFD-487C-8711-EAA91FA8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095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593"/>
          </a:bodyPr>
          <a:lstStyle xmlns:a="http://schemas.openxmlformats.org/drawingml/2006/main">
            <a:def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Teams approve releases through chat, memory, and disconnected tools.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79CB7C-8B44-42EF-A042-C0F15452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4286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350">
                <a:solidFill>
                  <a:srgbClr val="475569"/>
                </a:solidFill>
                <a:latin typeface="Arial"/>
                <a:ea typeface="Arial"/>
                <a:cs typeface="Arial"/>
              </a:defRPr>
            </a:defPPr>
            <a:lvl1pPr>
              <a:defRPr sz="135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  <a:lvl2pPr>
              <a:defRPr sz="135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2pPr>
            <a:lvl3pPr>
              <a:defRPr sz="135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3pPr>
            <a:lvl4pPr>
              <a:defRPr sz="135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4pPr>
            <a:lvl5pPr>
              <a:defRPr sz="135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5pPr>
            <a:lvl6pPr>
              <a:defRPr sz="135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6pPr>
            <a:lvl7pPr>
              <a:defRPr sz="135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7pPr>
            <a:lvl8pPr>
              <a:defRPr sz="135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8pPr>
            <a:lvl9pPr>
              <a:defRPr sz="135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35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475569"/>
                </a:solidFill>
                <a:latin typeface="Arial"/>
                <a:ea typeface="Arial"/>
                <a:cs typeface="Arial"/>
              </a:rPr>
              <a:t>Mandatory tests or security scans can be missed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35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475569"/>
                </a:solidFill>
                <a:latin typeface="Arial"/>
                <a:ea typeface="Arial"/>
                <a:cs typeface="Arial"/>
              </a:rPr>
              <a:t>Production approval and backup evidence stay invisible</a:t>
            </a:r>
          </a:p>
          <a:p xmlns:a="http://schemas.openxmlformats.org/drawingml/2006/main">
            <a:pPr marL="228600" indent="-114300">
              <a:spcAft>
                <a:spcPts val="1000"/>
              </a:spcAft>
              <a:buChar char="•"/>
              <a:defRPr sz="135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475569"/>
                </a:solidFill>
                <a:latin typeface="Arial"/>
                <a:ea typeface="Arial"/>
                <a:cs typeface="Arial"/>
              </a:rPr>
              <a:t>Risk decisions are difficult to explain later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77487A-8A77-44CF-AA58-A41A7AF8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F4F8C4-8FEE-4F8D-8BAA-4C8716C6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SOLUTION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E3F2B-5D2D-41B0-9940-9C31ADDF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9725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679"/>
          </a:bodyPr>
          <a:lstStyle xmlns:a="http://schemas.openxmlformats.org/drawingml/2006/main">
            <a:def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A deterministic score, risk level, blockers, and lifecycle status for every release.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AF6F9-5947-4813-9E4F-70E3127F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009775"/>
            <a:ext cx="6267450" cy="4076700"/>
          </a:xfrm>
          <a:prstGeom xmlns:a="http://schemas.openxmlformats.org/drawingml/2006/main" prst="roundRect">
            <a:avLst>
              <a:gd name="adj" fmla="val 28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AC6430-5E49-4B63-AB4A-2BFBFDD04E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3b61b8adb1498b"/>
          <a:stretch xmlns:a="http://schemas.openxmlformats.org/drawingml/2006/main"/>
        </p:blipFill>
        <p:spPr>
          <a:xfrm xmlns:a="http://schemas.openxmlformats.org/drawingml/2006/main">
            <a:off x="5387433" y="2047875"/>
            <a:ext cx="6179634" cy="4000500"/>
          </a:xfrm>
          <a:prstGeom xmlns:a="http://schemas.openxmlformats.org/drawingml/2006/main" prst="roundRect">
            <a:avLst>
              <a:gd name="adj" fmla="val 1905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780898-B3FB-4FE9-9B92-917B40D9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384917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DE6CBE-3DDD-4032-A1F8-AFB14491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RELEASEGUARD  / 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CC0673-9F06-4874-972A-B8ED69AD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66324C-CDC0-4079-99A0-91A12424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ReleaseGuard is the decision layer around deployment, not the deployment engine itself.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2F6416-A7FF-4ABE-A619-C50DAB59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5FD94D-669C-45B1-B296-5B0A4174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9337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ACBDD0-8C56-40CE-909F-6D187BF8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8859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33B028-A26A-4D88-A18C-4B9E36AC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28900"/>
            <a:ext cx="1543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1. Register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ACA7D6-CBF0-4D37-BC1C-43DC7DFD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App, version, owner, environment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9520F9-9C0A-40FD-88B3-55CC2F89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9337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AC3AB3-9C84-46B2-8067-C1E752525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57450"/>
            <a:ext cx="18859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C644C3-0453-41F4-B9CF-67142CD6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628900"/>
            <a:ext cx="1543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2. Verify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E683D7-1A85-4FE1-AF5E-E1BD88A9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9908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Tests, scan, approval, backup, rollback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32DA72-6717-4ED7-8F4D-4D6392E2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337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2AC28C-6888-4B68-975A-F88EA2C6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7450"/>
            <a:ext cx="18859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813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DE7E7C-CC80-42CB-8B87-216B7F9F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28900"/>
            <a:ext cx="1543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3. Evaluate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34F5E7-A99E-4BC4-8428-2D62A22DD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908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Score, risk level, blockers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375606-186C-413E-B0F7-E74E6D00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337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752FB2-4C41-4BE5-8B0B-79C060F7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457450"/>
            <a:ext cx="18859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F0E28D-AE28-4D2C-9763-C1984BE4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28900"/>
            <a:ext cx="1543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4. Deploy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D6198C-7A0E-49CC-ACD1-018A538E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908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DRAFT → READY → DEPLOYING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78860D-5160-419E-8F3D-E4171896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457450"/>
            <a:ext cx="18859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1A9318-FDD9-496D-AD09-FE419745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628900"/>
            <a:ext cx="1543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5. Record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4409ED-1518-45BD-99B3-E679C1E3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9908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SUCCESS, FAILED, or ROLLED_BACK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0D00C9-7263-4F0D-A039-0AFED3CC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Readiness is transparent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64F900-65F0-4E64-B080-CDBCEEAC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581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0F172A"/>
                </a:solidFill>
                <a:latin typeface="Arial"/>
                <a:ea typeface="Arial"/>
                <a:cs typeface="Arial"/>
              </a:rPr>
              <a:t>Five weighted checks produce a score from 0 to 100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0F172A"/>
                </a:solidFill>
                <a:latin typeface="Arial"/>
                <a:ea typeface="Arial"/>
                <a:cs typeface="Arial"/>
              </a:rPr>
              <a:t>Environment-aware rules classify LOW, MEDIUM, HIGH, or CRITICAL risk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0F172A"/>
                </a:solidFill>
                <a:latin typeface="Arial"/>
                <a:ea typeface="Arial"/>
                <a:cs typeface="Arial"/>
              </a:rPr>
              <a:t>Invalid lifecycle transitions return a clear 409 response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6C1D2A-1340-4AE4-B14B-5C50D4B6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152900"/>
            <a:ext cx="190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0ABC89-91B1-422E-9174-C727D020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86250"/>
            <a:ext cx="114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4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4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4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4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4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4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4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4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4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8C2125-E21C-4ECF-9DAD-99C1817F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476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maximum readiness score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66A872-330F-48A8-B936-AAF1FA86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095875"/>
            <a:ext cx="114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4B8CC3-3B96-4871-A892-B1340409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286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explicit readiness checks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8C3A6E-623F-4C90-92DC-868D4EF5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107325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FB1A300-EA5D-4514-A553-D90051E5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RELEASEGUARD  / 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1039C-EF40-4488-BBBF-0D86460A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End-to-end DevSecOps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1C36F9-822B-4F11-BD93-B38E3612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Every layer is versioned, reproducible, and observable.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F6188B-9FC2-496C-A292-ADE69452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D95CCA-AF1E-494C-9112-1B003D5C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2476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2966AF-3324-4610-8B86-56E60A28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762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BEA583-A614-4D76-AC1B-8140715B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05025"/>
            <a:ext cx="2152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C698B1-CA12-4732-BAE3-4D0D3A82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9077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363"/>
          </a:bodyPr>
          <a:lstStyle xmlns:a="http://schemas.openxmlformats.org/drawingml/2006/main">
            <a:def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GitHub repository + pull/push workflow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939B2B-1DF4-4AAD-B936-25F049D67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669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78791D-6237-4202-8BFE-3FD947EC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764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D58DB3-C085-422D-A9CD-AEE31762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952625"/>
            <a:ext cx="2476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B95F36-9469-442D-AEED-7A21EAF8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952625"/>
            <a:ext cx="762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37799B-89F3-4358-BD64-9FCBF590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105025"/>
            <a:ext cx="2152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CI security gates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FA03F2-8ECB-4EA4-B60D-D70D0CBC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9077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810"/>
          </a:bodyPr>
          <a:lstStyle xmlns:a="http://schemas.openxmlformats.org/drawingml/2006/main">
            <a:def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Tests → coverage → Docker → Trivy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9B53E3-8C73-4770-A470-5B2B2EB2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669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C5BF59-231E-445C-99CC-AD7A31EE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764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F4444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0B3DD6-5919-4124-8AB6-CA36AA6F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2476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3F8D4B-3D37-423A-B373-B30395DF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762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1F87DF-B179-426B-858B-FEA73C09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05025"/>
            <a:ext cx="2152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Artifact registry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051589-8FC2-4CF7-B643-92E842704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90775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090"/>
          </a:bodyPr>
          <a:lstStyle xmlns:a="http://schemas.openxmlformats.org/drawingml/2006/main">
            <a:def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Immutable Git-SHA images in GHCR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0C8029-29B5-481D-8015-582F3D6C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669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680634-9F6C-495E-A5EA-493D5BF55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764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9DBD54-D32C-4603-A17D-CF514DDD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52625"/>
            <a:ext cx="24574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5EC386-37D2-49C0-89C4-5E11FEBC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52625"/>
            <a:ext cx="762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D307E7-E93E-45DC-A719-112CBECB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105025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GitOps source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7A2D45-CFBF-4197-93A8-1F8481DD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907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930"/>
          </a:bodyPr>
          <a:lstStyle xmlns:a="http://schemas.openxmlformats.org/drawingml/2006/main">
            <a:def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Helm values + Argo CD Application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0F4432-4AF6-4B01-B4C1-53B21964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0669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B50E81-BE15-4D85-A384-FA2D9DA1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0764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CE495F-CE4D-417D-AB37-56D99718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028950"/>
            <a:ext cx="8610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68AD34-7603-45E7-B068-272A01F2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905125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24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ctr">
              <a:defRPr sz="24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ctr">
              <a:defRPr sz="24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ctr">
              <a:defRPr sz="24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ctr">
              <a:defRPr sz="24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ctr">
              <a:defRPr sz="24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ctr">
              <a:defRPr sz="24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ctr">
              <a:defRPr sz="24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ctr">
              <a:defRPr sz="24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ctr">
              <a:defRPr sz="24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4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1ABEC0-342E-4A91-82FC-8E4F2BB4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0813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32325C-5D88-406C-99B2-97336B0C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19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AWS CLOUD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37C316-05F6-4694-8DE6-599671E7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00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Terraform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B007EC-FADA-4614-B477-60CCE8DC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10075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VPC • subnets • IAM • EKS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3473C0-501F-4793-8AAD-9F10066A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714750"/>
            <a:ext cx="190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65422E-FAF5-47F2-8C5A-B7478799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00500"/>
            <a:ext cx="2714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Kubernetes + Helm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B7DFB88-6920-48C9-8E10-1A5AC948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410075"/>
            <a:ext cx="295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2 frontend • 2 backend • PostgreSQL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Services • probes • Ingress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418D14-4EEA-4308-9390-7E814DB4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714750"/>
            <a:ext cx="190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9C5B7F-DC44-4C84-86D3-7F0CFBA4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00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Observe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2806CA-34F1-4CF0-ADE4-FD974B94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10075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Prometheus scrapes /metrics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Grafana visualizes service health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5E1888E-A6D4-4802-A857-510A2D10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57875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500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75569"/>
                </a:solidFill>
                <a:latin typeface="Arial"/>
                <a:ea typeface="Arial"/>
                <a:cs typeface="Arial"/>
              </a:rPr>
              <a:t>Developer → GitHub Actions → GHCR → Argo CD → EKS → Prometheus / Grafana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71350FB-70E5-45DF-8641-F20A604C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881297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F32FD1-C8E3-4090-A6ED-F326B4B8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RELEASEGUARD  / 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4B8E19-F28C-4820-9CE0-CFB1F277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Technology stack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577BCA-9E40-4C2B-A035-C9603DB3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A compact stack selected to demonstrate the full delivery lifecycle.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B9EB50-9E19-4F98-8F84-08EFBE0A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4F36C-9ADF-474D-AF51-32230D7E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37F775-089A-4B76-AB09-9EE8EDBE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2143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APPLICATION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12CA1-11C1-4A83-992A-D81749A2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286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React + TypeScript</a:t>
            </a:r>
          </a:p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FastAPI + Python</a:t>
            </a:r>
          </a:p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PostgreSQL</a:t>
            </a:r>
          </a:p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Alembic migrations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FC8691-EA28-4121-9A6D-25B55BAD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095500"/>
            <a:ext cx="190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17FD96-445F-4885-B36A-2C7D787E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F3353-7B69-4313-9683-9893C1EE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343150"/>
            <a:ext cx="2143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F444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F4444"/>
                </a:solidFill>
                <a:latin typeface="Arial"/>
                <a:ea typeface="Arial"/>
                <a:cs typeface="Arial"/>
              </a:rPr>
              <a:t>DELIVERY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03CEBA-5F8F-4BC7-8DA4-283056DC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876550"/>
            <a:ext cx="2286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Git + GitHub</a:t>
            </a:r>
          </a:p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GitHub Actions</a:t>
            </a:r>
          </a:p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Docker + Compose</a:t>
            </a:r>
          </a:p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Trivy + GHCR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159E54-590C-44AA-853A-46C4261C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095500"/>
            <a:ext cx="190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DA4055-C6F8-408F-92E7-7EF8ACE8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1EB115-852B-4FF8-AB2B-D82548AC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43150"/>
            <a:ext cx="2143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PLATFORM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53732E-820C-49F7-964B-78B9580A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76550"/>
            <a:ext cx="2286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Terraform</a:t>
            </a:r>
          </a:p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AWS VPC + EKS</a:t>
            </a:r>
          </a:p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Kubernetes</a:t>
            </a:r>
          </a:p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Helm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83CA0A-01C3-4E67-A53E-1CBA27EC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095500"/>
            <a:ext cx="190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B42B90-DEFA-45FD-AE17-2BD0E1B5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495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15ED9E-3A53-449A-B3BA-056BE693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343150"/>
            <a:ext cx="2143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OPERATIONS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A6FB3C-28D4-4808-B796-70DDF0C1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76550"/>
            <a:ext cx="2286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Argo CD</a:t>
            </a:r>
          </a:p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Prometheus</a:t>
            </a:r>
          </a:p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Grafana</a:t>
            </a:r>
          </a:p>
          <a:p xmlns:a="http://schemas.openxmlformats.org/drawingml/2006/main">
            <a:pPr marL="203200" indent="-101600">
              <a:spcAft>
                <a:spcPts val="1500"/>
              </a:spcAft>
              <a:buChar char="•"/>
              <a:defRPr sz="157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F172A"/>
                </a:solidFill>
                <a:latin typeface="Arial"/>
                <a:ea typeface="Arial"/>
                <a:cs typeface="Arial"/>
              </a:rPr>
              <a:t>Health + readiness probes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F7F7B7-8A42-4782-8F46-4BBDF3D9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Design principle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B10249-BB2A-4935-829C-777F98AC0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95950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Use the same Git history to build, scan, deploy, reconcile, and observe the application.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3A48AC-470D-4D1C-BD05-9ECF4971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696935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183C195-E8AA-4AA1-9858-81E2FA2F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RELEASEGUARD  / 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089F2-5318-4788-B2EB-E61273A2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CI/CD and security gates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9E0046-C0D3-4773-87CF-36414351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Only verified, scanned, immutable images are published.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79D7FE-8D11-4072-A308-A85E2C1C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895AC5-2441-4D63-81D2-C4F11964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85750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155916-F3F8-4104-B897-ECE108D6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4668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50309-B773-4CB9-ABC6-D2EDB91F9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466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071A3-44ED-4B9C-A235-C1EF6352A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09850"/>
            <a:ext cx="1181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Commit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96AB81-F1AC-42DA-B570-6B6958D6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952750"/>
            <a:ext cx="1181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Push to main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B6B783-8718-4B68-BB7C-FC295C63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85750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E9A4AA-F7BE-4452-A6B0-C597CA1B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362200"/>
            <a:ext cx="14668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3D3151-C0AE-43DD-904D-569A9493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362200"/>
            <a:ext cx="1466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BFD002-C6CB-48D3-B29E-C01EC65FA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609850"/>
            <a:ext cx="1181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158C16-A2BD-46E2-A00C-C8E439D92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952750"/>
            <a:ext cx="1181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24 tests</a:t>
            </a:r>
            <a:r>
              <a:rPr sz="11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 + PostgreSQL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F52B35-5577-419A-8DF9-7A0F687A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85750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6F432A-13B5-4CE2-8FE5-8B539813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62200"/>
            <a:ext cx="14668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550E13-38A6-4BD8-8DA6-6B3A7DC7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62200"/>
            <a:ext cx="1466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DF7439-EBB3-431D-BD27-AF54FDF1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609850"/>
            <a:ext cx="1181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Quality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A736CC-A70E-4384-BDBC-78E42392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952750"/>
            <a:ext cx="1181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90% coverage gate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1A005E-6E1C-4F60-A30E-E89C23D6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5750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111B9D-5B43-478B-BC54-490967500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362200"/>
            <a:ext cx="14668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770418-7FE9-46EA-95E3-ECFCE72F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362200"/>
            <a:ext cx="1466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29C6BB-18FB-4767-8176-DF019DCC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1181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1B2441-E2C8-49EB-B73D-0071248B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952750"/>
            <a:ext cx="1181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Backend + frontend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83B6E1-1D6B-4EA2-BA74-E4F8C7CE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5750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450555-33E8-4143-A69C-F2860D39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62200"/>
            <a:ext cx="14668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02B08C-A420-46C8-97D4-58056247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62200"/>
            <a:ext cx="1466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F95961-0675-4402-91D2-4441140B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609850"/>
            <a:ext cx="1181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Scan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6815A1-F97F-42D0-A03E-422B53C0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952750"/>
            <a:ext cx="1181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Trivy filesystem + images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7B29E2-E0D2-4F83-8183-946565FA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62200"/>
            <a:ext cx="14668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5EC4AC-87A3-42CE-9244-7CB837AD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62200"/>
            <a:ext cx="1466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8A4237-CADB-474B-BB2E-5E83EDF5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609850"/>
            <a:ext cx="1181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Publish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E204436-E115-47F1-92C2-C8C34609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952750"/>
            <a:ext cx="1181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Git-SHA tags to GHCR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67B142-DD54-4557-BE48-C66AB3653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Security is part of delivery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EAA1B4-07E9-4427-A84C-472B22EA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60960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0F172A"/>
                </a:solidFill>
                <a:latin typeface="Arial"/>
                <a:ea typeface="Arial"/>
                <a:cs typeface="Arial"/>
              </a:rPr>
              <a:t>Pinned Python and JavaScript dependency trees improve repeatability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0F172A"/>
                </a:solidFill>
                <a:latin typeface="Arial"/>
                <a:ea typeface="Arial"/>
                <a:cs typeface="Arial"/>
              </a:rPr>
              <a:t>Non-root application containers reduce runtime privilege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425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0F172A"/>
                </a:solidFill>
                <a:latin typeface="Arial"/>
                <a:ea typeface="Arial"/>
                <a:cs typeface="Arial"/>
              </a:rPr>
              <a:t>High and critical vulnerabilities fail the pipeline before publishing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68737B-E7D0-4069-8F01-AA68DA6E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190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BAA5E1-97A6-4FA4-89F6-D5133DCF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29100"/>
            <a:ext cx="95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9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39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39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39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39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39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39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39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39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39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9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A36E4D8-DCED-4AB7-93DC-F2918961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291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backend tests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09BFBAF-F49B-4B08-A6ED-22483020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048250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 algn="l">
              <a:defRPr sz="3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 algn="l">
              <a:defRPr sz="3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 algn="l">
              <a:defRPr sz="3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 algn="l">
              <a:defRPr sz="3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 algn="l">
              <a:defRPr sz="3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 algn="l">
              <a:defRPr sz="3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 algn="l">
              <a:defRPr sz="3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 algn="l">
              <a:defRPr sz="3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 algn="l">
              <a:defRPr sz="3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9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90%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05F3E3-6989-443A-B1B2-F5300465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482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coverage gate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2AF961A-7229-4E6D-80B4-F763388C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131471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C0728C-E88F-40B1-9D46-B9E83170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RELEASEGUARD  / 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A67774-C8D6-416C-8669-B96CE3EB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Infrastructure as code on AWS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5DCC90-CA8D-4178-BCED-063953C9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Terraform created a temporary, evidence-backed EKS environment and then removed it safely.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CFBD85-73F4-423D-8EF2-6D8A8400B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B0CEB-E11C-4ABA-8269-34F399F8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9775"/>
            <a:ext cx="6362700" cy="4124325"/>
          </a:xfrm>
          <a:prstGeom xmlns:a="http://schemas.openxmlformats.org/drawingml/2006/main" prst="roundRect">
            <a:avLst>
              <a:gd name="adj" fmla="val 27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C6A8AE-D578-45B9-B0A9-B058688E7B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feca79cfd4507"/>
          <a:stretch xmlns:a="http://schemas.openxmlformats.org/drawingml/2006/main"/>
        </p:blipFill>
        <p:spPr>
          <a:xfrm xmlns:a="http://schemas.openxmlformats.org/drawingml/2006/main">
            <a:off x="626249" y="2047875"/>
            <a:ext cx="6253201" cy="4048125"/>
          </a:xfrm>
          <a:prstGeom xmlns:a="http://schemas.openxmlformats.org/drawingml/2006/main" prst="roundRect">
            <a:avLst>
              <a:gd name="adj" fmla="val 1882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3EDBAC-D0B1-410A-AC9B-7FEF4DB8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VERIFIED DEPLOYMENT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8ABF4D-D81F-42DF-89A0-51813ED5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457450"/>
            <a:ext cx="381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444"/>
          </a:bodyPr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Reproducible AWS foundation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547416-5910-4EC2-84F6-9051EF53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371850"/>
            <a:ext cx="4000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350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>
              <a:defRPr sz="135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>
              <a:defRPr sz="135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>
              <a:defRPr sz="135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>
              <a:defRPr sz="135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>
              <a:defRPr sz="135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>
              <a:defRPr sz="135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>
              <a:defRPr sz="135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>
              <a:defRPr sz="135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>
              <a:defRPr sz="135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35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F172A"/>
                </a:solidFill>
                <a:latin typeface="Arial"/>
                <a:ea typeface="Arial"/>
                <a:cs typeface="Arial"/>
              </a:rPr>
              <a:t>VPC with CIDR 10.20.0.0/16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35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F172A"/>
                </a:solidFill>
                <a:latin typeface="Arial"/>
                <a:ea typeface="Arial"/>
                <a:cs typeface="Arial"/>
              </a:rPr>
              <a:t>Two public subnets across availability zones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35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F172A"/>
                </a:solidFill>
                <a:latin typeface="Arial"/>
                <a:ea typeface="Arial"/>
                <a:cs typeface="Arial"/>
              </a:rPr>
              <a:t>EKS 1.35 control plane and managed node group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35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F172A"/>
                </a:solidFill>
                <a:latin typeface="Arial"/>
                <a:ea typeface="Arial"/>
                <a:cs typeface="Arial"/>
              </a:rPr>
              <a:t>m7i-flex.large worker selected from account-eligible types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35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0F172A"/>
                </a:solidFill>
                <a:latin typeface="Arial"/>
                <a:ea typeface="Arial"/>
                <a:cs typeface="Arial"/>
              </a:rPr>
              <a:t>Plan applied, application verified, resources destroyed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916838-139B-46F0-ABFF-7A2F709E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5619750"/>
            <a:ext cx="24574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F566AA-CC13-4C0B-9DE0-CA044936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5629275"/>
            <a:ext cx="245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46 RESOURCES DESTROYED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266CFC-A912-400A-A31E-D5F66D4C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713797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4FCDEC-E039-43BB-8249-220338042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RELEASEGUARD  / 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3327D2-B373-4E7C-BBD2-E7CB485E4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Kubernetes delivery with Helm and Argo CD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CC4D85-82FE-4AB2-ABC4-0E19D76E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Declarative configuration keeps desired state in Git and repairs drift automatically.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EEE2C-5FDA-40C7-BD40-6491F7EA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06DD9-7042-49DC-AD0B-9206183F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6267450" cy="4076700"/>
          </a:xfrm>
          <a:prstGeom xmlns:a="http://schemas.openxmlformats.org/drawingml/2006/main" prst="roundRect">
            <a:avLst>
              <a:gd name="adj" fmla="val 28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9DA688-1A1C-4285-B733-05FFEFBD2D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8326928534bb6"/>
          <a:stretch xmlns:a="http://schemas.openxmlformats.org/drawingml/2006/main"/>
        </p:blipFill>
        <p:spPr>
          <a:xfrm xmlns:a="http://schemas.openxmlformats.org/drawingml/2006/main">
            <a:off x="615408" y="2038350"/>
            <a:ext cx="6179634" cy="4000500"/>
          </a:xfrm>
          <a:prstGeom xmlns:a="http://schemas.openxmlformats.org/drawingml/2006/main" prst="roundRect">
            <a:avLst>
              <a:gd name="adj" fmla="val 1905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4837FB-40B8-43DB-A898-886607FF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764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GITOPS CONTROL LOOP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167A02-B9A4-4BF7-A287-9A6D3DAC8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09925"/>
            <a:ext cx="38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7E6C7A-3E34-4134-A5FD-37089589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76500"/>
            <a:ext cx="37147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20A05A-A808-4961-B2A6-4C3CBC13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00325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Git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32C503-3AC1-40DC-882A-2F34F343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956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Helm chart + values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8CE9DB-DCEB-4AD6-AD2E-3DF48BB1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38625"/>
            <a:ext cx="38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61BC5A-6F50-484C-A99E-31EACD7FB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505200"/>
            <a:ext cx="37147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813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46BCBE-65C9-497A-9A82-2A2344ACF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29025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Argo CD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B1B3A2-0647-4DAA-BE0F-7CD15474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9243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Sync, prune, self-heal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87EE8E-4683-45E3-BADD-AE59DE06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533900"/>
            <a:ext cx="37147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0EC69E-2061-443F-B300-4A426077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57725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011D9C-6206-458D-8299-FF0D9EA6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9530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Desired state reconciled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31A134-051B-4810-8876-1892C397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6388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475569"/>
                </a:solidFill>
                <a:latin typeface="Arial"/>
                <a:ea typeface="Arial"/>
                <a:cs typeface="Arial"/>
              </a:rPr>
              <a:t>2 frontend  •  2 backend  •  1 database  •  ClusterIP Services  •  Ingress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87DB40-6D62-4AE1-BE3E-445CDBF1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247107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622450-AAF3-43A3-B288-BDD409BE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RELEASEGUARD  / 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4FFDEF-B3F7-4F68-96CC-574E5A91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Observability closes the feedback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5A3C24-92A8-4E8A-A037-23A04B52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Health endpoints support orchestration; metrics explain application behaviour.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90BA97-5D42-4779-8D7E-F3204C74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0BC76D-1341-4D87-9A6A-A7A68207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813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DA48C0-15BF-4A8A-B23C-5ABB399A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8194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C299F5-B6A1-4F22-A40B-3228F675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62225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6E295B-E9AC-4CF9-82B7-8F1CDD0C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FastAPI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AF9119-E0E9-41D9-870B-AA6D026C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/health • /ready • /metrics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4ADD75-19CF-4ED8-918D-A1EAB2E7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55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4251DD-FE92-4E90-AA6F-7B8A83C9F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62225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D3CF8E-1BD0-41A1-A6EB-EE0C18A6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003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Prometheus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773191-790C-4362-832D-975B03A3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scrape target = 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AAF0A1-ACAA-46E1-8873-A447800D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003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Grafana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3A9AD-7FE4-4AE9-B0ED-93F3D61D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8956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BD5E1"/>
                </a:solidFill>
                <a:latin typeface="Arial"/>
                <a:ea typeface="Arial"/>
                <a:cs typeface="Arial"/>
              </a:rPr>
              <a:t>request count • rate • duration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056C9C-C9DD-4D12-9C96-68B570D4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the platform can answer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8DC139-2B24-4867-9F26-6C1157F7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905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500">
                <a:solidFill>
                  <a:srgbClr val="0F172A"/>
                </a:solidFill>
                <a:latin typeface="Arial"/>
                <a:ea typeface="Arial"/>
                <a:cs typeface="Arial"/>
              </a:defRPr>
            </a:defPPr>
            <a:lvl1pPr>
              <a:defRPr sz="150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1pPr>
            <a:lvl2pPr>
              <a:defRPr sz="150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2pPr>
            <a:lvl3pPr>
              <a:defRPr sz="150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3pPr>
            <a:lvl4pPr>
              <a:defRPr sz="150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4pPr>
            <a:lvl5pPr>
              <a:defRPr sz="150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5pPr>
            <a:lvl6pPr>
              <a:defRPr sz="150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6pPr>
            <a:lvl7pPr>
              <a:defRPr sz="150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7pPr>
            <a:lvl8pPr>
              <a:defRPr sz="150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8pPr>
            <a:lvl9pPr>
              <a:defRPr sz="1500">
                <a:solidFill>
                  <a:srgbClr val="0F17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50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0F172A"/>
                </a:solidFill>
                <a:latin typeface="Arial"/>
                <a:ea typeface="Arial"/>
                <a:cs typeface="Arial"/>
              </a:rPr>
              <a:t>Is the process alive and is the database reachable?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50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0F172A"/>
                </a:solidFill>
                <a:latin typeface="Arial"/>
                <a:ea typeface="Arial"/>
                <a:cs typeface="Arial"/>
              </a:rPr>
              <a:t>Is Prometheus successfully scraping the application?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50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0F172A"/>
                </a:solidFill>
                <a:latin typeface="Arial"/>
                <a:ea typeface="Arial"/>
                <a:cs typeface="Arial"/>
              </a:rPr>
              <a:t>How many requests are arriving and how long do they take?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28E7E7-3673-4027-8DA5-231D0C99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91000"/>
            <a:ext cx="190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E0591C-4E22-446A-B036-2140C193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13906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E42D11-09B4-45CD-A976-5D76B5885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71975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TARGET 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9CBCFC-941B-49E7-8E55-7780E5F2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53000"/>
            <a:ext cx="76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765"/>
          </a:bodyPr>
          <a:lstStyle xmlns:a="http://schemas.openxmlformats.org/drawingml/2006/main">
            <a:def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 algn="l"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3ED1C7-8483-4C06-9588-C9F86E99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143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provisioned Grafana panels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6B282D-52B6-4CBB-A666-65B3F845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49818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13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1956D9-4810-4852-ABF8-90EA51A9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RELEASEGUARD  / 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3B095D-34D6-4FE4-91B7-8415E36C5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I learned and how I will demo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1B1131-DCAC-4510-BC06-4C79DC2D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08925F-B5CA-4093-B925-3A5409FE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KEY LEARNINGS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83EE8C-C995-406F-A26D-61810B88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95857"/>
          </a:bodyPr>
          <a:lstStyle xmlns:a="http://schemas.openxmlformats.org/drawingml/2006/main">
            <a:defPPr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28600" indent="-114300">
              <a:spcAft>
                <a:spcPts val="1200"/>
              </a:spcAft>
              <a:buChar char="•"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DevSecOps is a chain of feedback loops, not a single tool</a:t>
            </a:r>
          </a:p>
          <a:p xmlns:a="http://schemas.openxmlformats.org/drawingml/2006/main">
            <a:pPr marL="228600" indent="-114300">
              <a:spcAft>
                <a:spcPts val="1200"/>
              </a:spcAft>
              <a:buChar char="•"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Immutable artifacts and GitOps make deployments repeatable</a:t>
            </a:r>
          </a:p>
          <a:p xmlns:a="http://schemas.openxmlformats.org/drawingml/2006/main">
            <a:pPr marL="228600" indent="-114300">
              <a:spcAft>
                <a:spcPts val="1200"/>
              </a:spcAft>
              <a:buChar char="•"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Health probes and metrics are part of application design</a:t>
            </a:r>
          </a:p>
          <a:p xmlns:a="http://schemas.openxmlformats.org/drawingml/2006/main">
            <a:pPr marL="228600" indent="-114300">
              <a:spcAft>
                <a:spcPts val="1200"/>
              </a:spcAft>
              <a:buChar char="•"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Infrastructure evidence must end with a verified teardown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318811-CD00-4BD7-8BC0-D66C9D6D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240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E44BFD-B4F5-4319-994F-AD072115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431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14B8A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4B8A6"/>
                </a:solidFill>
                <a:latin typeface="Arial"/>
                <a:ea typeface="Arial"/>
                <a:cs typeface="Arial"/>
              </a:rPr>
              <a:t>LIVE DEMO ORDER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447572-9B3C-4878-90A8-11ED9B0D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81250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  Architecture and codebase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40485-8B49-456E-B7DE-717DBCE3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09900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BD5E1"/>
                </a:solidFill>
                <a:latin typeface="Arial"/>
                <a:ea typeface="Arial"/>
                <a:cs typeface="Arial"/>
              </a:rPr>
              <a:t>2  Push and GitHub 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0E1481-E0B6-4A00-A376-B2721C8C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38550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BD5E1"/>
                </a:solidFill>
                <a:latin typeface="Arial"/>
                <a:ea typeface="Arial"/>
                <a:cs typeface="Arial"/>
              </a:rPr>
              <a:t>3  Terraform and AWS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F2C3D3-4C55-4091-B74B-D756A833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67200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BD5E1"/>
                </a:solidFill>
                <a:latin typeface="Arial"/>
                <a:ea typeface="Arial"/>
                <a:cs typeface="Arial"/>
              </a:rPr>
              <a:t>4  Argo CD Synced / Healthy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A741A5-5D3A-40EA-A35E-D82A6444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81250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  Pods, Services, Ingress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596503-52E9-4EB4-8D25-EA0951C6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9900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BD5E1"/>
                </a:solidFill>
                <a:latin typeface="Arial"/>
                <a:ea typeface="Arial"/>
                <a:cs typeface="Arial"/>
              </a:rPr>
              <a:t>6  Prometheus target 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FCFC97-38DE-4ACA-9F17-551EB70A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38550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BD5E1"/>
                </a:solidFill>
                <a:latin typeface="Arial"/>
                <a:ea typeface="Arial"/>
                <a:cs typeface="Arial"/>
              </a:rPr>
              <a:t>7  Grafana live metrics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9E2962-04B2-4F59-B5C1-0083638B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67200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BD5E1"/>
                </a:solidFill>
                <a:latin typeface="Arial"/>
                <a:ea typeface="Arial"/>
                <a:cs typeface="Arial"/>
              </a:rPr>
              <a:t>8  Safe teardown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ABF72E-5947-4785-90D9-B0242033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A510C4-8176-49B4-A280-399C2467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Result: a complete application moved from local development to a secure CI pipeline, GitOps-managed Kubernetes, and observable AWS EKS.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5CBEFF-A2E5-40E5-B42B-5FD41741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defPPr>
            <a:lvl1pPr algn="r">
              <a:defRPr sz="900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1pPr>
            <a:lvl2pPr algn="r">
              <a:defRPr sz="900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2pPr>
            <a:lvl3pPr algn="r">
              <a:defRPr sz="900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3pPr>
            <a:lvl4pPr algn="r">
              <a:defRPr sz="900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4pPr>
            <a:lvl5pPr algn="r">
              <a:defRPr sz="900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5pPr>
            <a:lvl6pPr algn="r">
              <a:defRPr sz="900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6pPr>
            <a:lvl7pPr algn="r">
              <a:defRPr sz="900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7pPr>
            <a:lvl8pPr algn="r">
              <a:defRPr sz="900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8pPr>
            <a:lvl9pPr algn="r">
              <a:defRPr sz="900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94A3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4A3B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60162081"/>
      </p:ext>
    </p:extLst>
  </p:cSld>
</p:sld>
</file>

<file path=ppt/theme/theme1.xml><?xml version="1.0" encoding="utf-8"?>
<a:theme xmlns:a="http://schemas.openxmlformats.org/drawingml/2006/main" name="ReleaseGuard">
  <a:themeElements>
    <a:clrScheme name="ReleaseGuard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ReleaseGuar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Microsoft PowerPoint</ap:Application>
  <ap:PresentationFormat>Widescreen</ap:PresentationFormat>
  <ap:Slides>10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Nipun Patel</dc:creator>
  <lastModifiedBy>Nipun Patel</lastModifiedBy>
  <dc:title>ReleaseGuard DevSecOps Capstone</dc:title>
  <dcterms:created xsi:type="dcterms:W3CDTF">2026-10-16T21:15:14.2480000Z</dcterms:created>
  <dcterms:modified xsi:type="dcterms:W3CDTF">2026-10-16T21:15:14.2480000Z</dcterms:modified>
</coreProperties>
</file>