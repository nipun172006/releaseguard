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c9cdfeae6a490a" /><Relationship Type="http://schemas.openxmlformats.org/officeDocument/2006/relationships/extended-properties" Target="/docProps/app.xml" Id="Rb5e85a20d1d54f63" /><Relationship Type="http://schemas.openxmlformats.org/officeDocument/2006/relationships/officeDocument" Target="/ppt/presentation.xml" Id="R35be3da8e42945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b8f5a370c4247"/>
  </p:sldMasterIdLst>
  <p:notesMasterIdLst>
    <p:notesMasterId xmlns:r="http://schemas.openxmlformats.org/officeDocument/2006/relationships" r:id="R0343f918f31a460d"/>
  </p:notesMasterIdLst>
  <p:sldIdLst>
    <p:sldId xmlns:r="http://schemas.openxmlformats.org/officeDocument/2006/relationships" id="256" r:id="Rc292744c814e4424"/>
    <p:sldId xmlns:r="http://schemas.openxmlformats.org/officeDocument/2006/relationships" id="257" r:id="Rcf2a2d6284694dd9"/>
    <p:sldId xmlns:r="http://schemas.openxmlformats.org/officeDocument/2006/relationships" id="258" r:id="R764970a43dee492d"/>
    <p:sldId xmlns:r="http://schemas.openxmlformats.org/officeDocument/2006/relationships" id="259" r:id="R95829ba5bc8a4950"/>
    <p:sldId xmlns:r="http://schemas.openxmlformats.org/officeDocument/2006/relationships" id="260" r:id="Rc32f39eab4c54b41"/>
    <p:sldId xmlns:r="http://schemas.openxmlformats.org/officeDocument/2006/relationships" id="261" r:id="Red6df3f516784944"/>
    <p:sldId xmlns:r="http://schemas.openxmlformats.org/officeDocument/2006/relationships" id="262" r:id="Rc48170312fef43e7"/>
    <p:sldId xmlns:r="http://schemas.openxmlformats.org/officeDocument/2006/relationships" id="263" r:id="R023bf0aeaae046eb"/>
    <p:sldId xmlns:r="http://schemas.openxmlformats.org/officeDocument/2006/relationships" id="264" r:id="Rdb40e759a2754d90"/>
    <p:sldId xmlns:r="http://schemas.openxmlformats.org/officeDocument/2006/relationships" id="265" r:id="R0af523888cfb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0b9e61ec2482a" /><Relationship Type="http://schemas.openxmlformats.org/officeDocument/2006/relationships/slideMaster" Target="/ppt/slideMasters/slideMaster1.xml" Id="R464b8f5a370c4247" /><Relationship Type="http://schemas.openxmlformats.org/officeDocument/2006/relationships/notesMaster" Target="/ppt/notesMasters/notesMaster1.xml" Id="R0343f918f31a460d" /><Relationship Type="http://schemas.openxmlformats.org/officeDocument/2006/relationships/presProps" Target="/ppt/presProps.xml" Id="R860d311d4c7b43a8" /><Relationship Type="http://schemas.openxmlformats.org/officeDocument/2006/relationships/tableStyles" Target="/ppt/tableStyles.xml" Id="R816711defb5048ef" /><Relationship Type="http://schemas.openxmlformats.org/officeDocument/2006/relationships/slide" Target="/ppt/slides/slide1.xml" Id="Rc292744c814e4424" /><Relationship Type="http://schemas.openxmlformats.org/officeDocument/2006/relationships/slide" Target="/ppt/slides/slide2.xml" Id="Rcf2a2d6284694dd9" /><Relationship Type="http://schemas.openxmlformats.org/officeDocument/2006/relationships/slide" Target="/ppt/slides/slide3.xml" Id="R764970a43dee492d" /><Relationship Type="http://schemas.openxmlformats.org/officeDocument/2006/relationships/slide" Target="/ppt/slides/slide4.xml" Id="R95829ba5bc8a4950" /><Relationship Type="http://schemas.openxmlformats.org/officeDocument/2006/relationships/slide" Target="/ppt/slides/slide5.xml" Id="Rc32f39eab4c54b41" /><Relationship Type="http://schemas.openxmlformats.org/officeDocument/2006/relationships/slide" Target="/ppt/slides/slide6.xml" Id="Red6df3f516784944" /><Relationship Type="http://schemas.openxmlformats.org/officeDocument/2006/relationships/slide" Target="/ppt/slides/slide7.xml" Id="Rc48170312fef43e7" /><Relationship Type="http://schemas.openxmlformats.org/officeDocument/2006/relationships/slide" Target="/ppt/slides/slide8.xml" Id="R023bf0aeaae046eb" /><Relationship Type="http://schemas.openxmlformats.org/officeDocument/2006/relationships/slide" Target="/ppt/slides/slide9.xml" Id="Rdb40e759a2754d90" /><Relationship Type="http://schemas.openxmlformats.org/officeDocument/2006/relationships/slide" Target="/ppt/slides/slide10.xml" Id="R0af523888cfb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5997470642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ReleaseGuard">
  <a:themeElements>
    <a:clrScheme name="ReleaseGu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lease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486a035c824f47" /><Relationship Type="http://schemas.openxmlformats.org/officeDocument/2006/relationships/notesMaster" Target="/ppt/notesMasters/notesMaster1.xml" Id="R36eb9103c1e641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ed6e9668e24760" /><Relationship Type="http://schemas.openxmlformats.org/officeDocument/2006/relationships/notesMaster" Target="/ppt/notesMasters/notesMaster1.xml" Id="Rabdbe899da1a4a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9ad966d1ab4620" /><Relationship Type="http://schemas.openxmlformats.org/officeDocument/2006/relationships/notesMaster" Target="/ppt/notesMasters/notesMaster1.xml" Id="R61e023e524c24d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a1c694affe4c5b" /><Relationship Type="http://schemas.openxmlformats.org/officeDocument/2006/relationships/notesMaster" Target="/ppt/notesMasters/notesMaster1.xml" Id="R230780d60f44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a60974bac4c12" /><Relationship Type="http://schemas.openxmlformats.org/officeDocument/2006/relationships/notesMaster" Target="/ppt/notesMasters/notesMaster1.xml" Id="Re69dfb5b25cd49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529d9855534a96" /><Relationship Type="http://schemas.openxmlformats.org/officeDocument/2006/relationships/notesMaster" Target="/ppt/notesMasters/notesMaster1.xml" Id="R77122f33b485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89b6943c2142e3" /><Relationship Type="http://schemas.openxmlformats.org/officeDocument/2006/relationships/notesMaster" Target="/ppt/notesMasters/notesMaster1.xml" Id="Rab9f747c80584f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de2d8adea144e6" /><Relationship Type="http://schemas.openxmlformats.org/officeDocument/2006/relationships/notesMaster" Target="/ppt/notesMasters/notesMaster1.xml" Id="R4099b3702b1b44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04771dd43a4eb7" /><Relationship Type="http://schemas.openxmlformats.org/officeDocument/2006/relationships/notesMaster" Target="/ppt/notesMasters/notesMaster1.xml" Id="Rfaa660ce324d47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0701129cc47e0" /><Relationship Type="http://schemas.openxmlformats.org/officeDocument/2006/relationships/notesMaster" Target="/ppt/notesMasters/notesMaster1.xml" Id="R7c331402bcc7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f9025938448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9109f91424e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cbf3a82fc41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bc8f8e6754d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3790d368c94b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e6cfbbcb4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CA1F61-9568-4895-8963-75F829B69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BEF8DC-5F81-47A5-8F64-889994F20D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458047-D3EC-45B3-921F-4C030F3DF7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CCF0D0-8294-4E77-AD2A-290BC0132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E9A6F1-0A54-42EA-A5D0-859325937D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9EDE2A-3054-4273-9F74-1DA5CF31E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675A653-5DEA-46DE-ADE8-67D3E367D9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4AFC5B-B533-4D09-9005-5A649858234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92B67B-A262-451E-952B-673ADC0D8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9D80D9-DEBA-43D1-BC58-C1AEC0733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49c71612614c00" /><Relationship Type="http://schemas.openxmlformats.org/officeDocument/2006/relationships/slideLayout" Target="/ppt/slideLayouts/slideLayout1.xml" Id="R357863efaec44a6d" /><Relationship Type="http://schemas.openxmlformats.org/officeDocument/2006/relationships/slideLayout" Target="/ppt/slideLayouts/slideLayout2.xml" Id="Ra038eb90adfa49d7" /><Relationship Type="http://schemas.openxmlformats.org/officeDocument/2006/relationships/slideLayout" Target="/ppt/slideLayouts/slideLayout3.xml" Id="Re7692ca5dc7b4f0e" /><Relationship Type="http://schemas.openxmlformats.org/officeDocument/2006/relationships/slideLayout" Target="/ppt/slideLayouts/slideLayout4.xml" Id="Ra83e8770d3d24347" /><Relationship Type="http://schemas.openxmlformats.org/officeDocument/2006/relationships/slideLayout" Target="/ppt/slideLayouts/slideLayout5.xml" Id="Rdf912da066d14333" /><Relationship Type="http://schemas.openxmlformats.org/officeDocument/2006/relationships/slideLayout" Target="/ppt/slideLayouts/slideLayout6.xml" Id="Ra688d4ba44884b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7863efaec44a6d"/>
    <p:sldLayoutId xmlns:r="http://schemas.openxmlformats.org/officeDocument/2006/relationships" id="2147483650" r:id="Ra038eb90adfa49d7"/>
    <p:sldLayoutId xmlns:r="http://schemas.openxmlformats.org/officeDocument/2006/relationships" id="2147483651" r:id="Re7692ca5dc7b4f0e"/>
    <p:sldLayoutId xmlns:r="http://schemas.openxmlformats.org/officeDocument/2006/relationships" id="2147483652" r:id="Ra83e8770d3d24347"/>
    <p:sldLayoutId xmlns:r="http://schemas.openxmlformats.org/officeDocument/2006/relationships" id="2147483653" r:id="Rdf912da066d14333"/>
    <p:sldLayoutId xmlns:r="http://schemas.openxmlformats.org/officeDocument/2006/relationships" id="2147483654" r:id="Ra688d4ba44884b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ReleaseGuard">
  <a:themeElements>
    <a:clrScheme name="ReleaseGu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lease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5ce1e1ee074f0a" /><Relationship Type="http://schemas.openxmlformats.org/officeDocument/2006/relationships/notesSlide" Target="/ppt/notesSlides/notesSlide1.xml" Id="R7fb0f4484ccd40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ac80da85a4b0a" /><Relationship Type="http://schemas.openxmlformats.org/officeDocument/2006/relationships/image" Target="/ppt/media/image.png" Id="R91d4e57b7513499a" /><Relationship Type="http://schemas.openxmlformats.org/officeDocument/2006/relationships/notesSlide" Target="/ppt/notesSlides/notesSlide2.xml" Id="R3e8ba6eae34a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2ba5ef47ff4a78" /><Relationship Type="http://schemas.openxmlformats.org/officeDocument/2006/relationships/notesSlide" Target="/ppt/notesSlides/notesSlide3.xml" Id="R024c866c098b41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56e365d5ff4b14" /><Relationship Type="http://schemas.openxmlformats.org/officeDocument/2006/relationships/notesSlide" Target="/ppt/notesSlides/notesSlide4.xml" Id="R4b86fb7afc404b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7f297e47d409e" /><Relationship Type="http://schemas.openxmlformats.org/officeDocument/2006/relationships/notesSlide" Target="/ppt/notesSlides/notesSlide5.xml" Id="Rac4ce2c2178b42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7a6da6bf446cd" /><Relationship Type="http://schemas.openxmlformats.org/officeDocument/2006/relationships/image" Target="/ppt/media/image2.png" Id="R8aa2307773784e85" /><Relationship Type="http://schemas.openxmlformats.org/officeDocument/2006/relationships/image" Target="/ppt/media/image3.png" Id="R60ed42cce2644247" /><Relationship Type="http://schemas.openxmlformats.org/officeDocument/2006/relationships/notesSlide" Target="/ppt/notesSlides/notesSlide6.xml" Id="R249e4d7ae142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0866fef8de4569" /><Relationship Type="http://schemas.openxmlformats.org/officeDocument/2006/relationships/image" Target="/ppt/media/image4.png" Id="R0208d516e21f4992" /><Relationship Type="http://schemas.openxmlformats.org/officeDocument/2006/relationships/image" Target="/ppt/media/image5.png" Id="R6a92cefeaa094713" /><Relationship Type="http://schemas.openxmlformats.org/officeDocument/2006/relationships/notesSlide" Target="/ppt/notesSlides/notesSlide7.xml" Id="Ra982500fd1b542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d959a9f3f4689" /><Relationship Type="http://schemas.openxmlformats.org/officeDocument/2006/relationships/image" Target="/ppt/media/image6.png" Id="Ra36b43d2dd0e41fb" /><Relationship Type="http://schemas.openxmlformats.org/officeDocument/2006/relationships/notesSlide" Target="/ppt/notesSlides/notesSlide8.xml" Id="Ra38dc4106e524e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eb81ba30bb47c7" /><Relationship Type="http://schemas.openxmlformats.org/officeDocument/2006/relationships/image" Target="/ppt/media/image7.png" Id="Rce2ab2e976424a29" /><Relationship Type="http://schemas.openxmlformats.org/officeDocument/2006/relationships/notesSlide" Target="/ppt/notesSlides/notesSlide9.xml" Id="R55002ea1ea7147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333dcc3fd48e1" /><Relationship Type="http://schemas.openxmlformats.org/officeDocument/2006/relationships/notesSlide" Target="/ppt/notesSlides/notesSlide10.xml" Id="Rd4a6107b9b1942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77C32-FE59-422D-ADA7-C3EEAC98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2450"/>
            <a:ext cx="3143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defRPr>
            </a:pPr>
            <a:r>
              <a:rPr sz="13050" b="1">
                <a:solidFill>
                  <a:srgbClr val="12304A"/>
                </a:solidFill>
                <a:latin typeface="Avenir Next"/>
                <a:ea typeface="Avenir Next"/>
                <a:cs typeface="Avenir Next"/>
              </a:rPr>
              <a:t>RG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2FE231-45AA-40A9-B187-379A7BCB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AC1E9-27F6-4A76-84C6-1D3CDA2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DEVSECOPS FINAL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7A145-E47B-4A1E-9A06-50DB8FE7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5EB76-7077-4721-87D4-3C0D2EEE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pPr>
            <a:r>
              <a:rPr sz="2325" b="0">
                <a:solidFill>
                  <a:srgbClr val="C6D1DF"/>
                </a:solidFill>
                <a:latin typeface="Avenir Next"/>
                <a:ea typeface="Avenir Next"/>
                <a:cs typeface="Avenir Next"/>
              </a:rPr>
              <a:t>Release decisions backed by visible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0DDD4-21DB-43B6-B59C-F5321F35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From commit to tested image, GitOps deployment, and observable AWS EKS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520AE-67D3-4438-BA10-A151A69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FC5A0-1519-4980-8390-0B6BE9F4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React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89624-F955-43FF-AAF2-B1BA162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72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FastAPI + PostgreSQL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E7F18-1ABC-4817-9009-AA04D52D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721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Docker + Kubernetes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0D2C0-D486-4F89-B386-37DADEE2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72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Terraform + AWS 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C4F9F7-2CE5-48BD-BF8B-FD03E3E9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Nipun Patel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9387DE-6D30-4EE5-B982-7D3F9CD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198756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B733D-566C-4F8B-8E3F-EFEAA16A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2CABAA-508F-48EC-B8D4-DA5C3C5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F25FE-DDC3-4C61-B2B0-23C56546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Release decisions with visible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91828-6BC0-4165-97A0-1CEDC985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A single workspace replaces approval by chat, memory, and disconnected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8C10C4-F442-4B13-9D68-A7A9B64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43064-B23C-4082-8A34-A1036F9A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F5350"/>
                </a:solidFill>
                <a:latin typeface="Avenir Next"/>
                <a:ea typeface="Avenir Next"/>
                <a:cs typeface="Avenir Next"/>
              </a:rPr>
              <a:t>The operational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861B1-DFFF-475C-B40B-EE81CAD5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81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049"/>
          </a:bodyPr>
          <a:lstStyle xmlns:a="http://schemas.openxmlformats.org/drawingml/2006/main">
            <a:def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Critical release evidence is easy to miss when teams approve deployments across separate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7CF2D-34AA-4854-A292-F9FCBC59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810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Tests and security results stay scattered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Production approvals lack a durable record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Risk decisions become difficult to 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6F0A4-2F17-4E22-8635-994F6CB5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8100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DDF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E52A4-2E6E-482D-95AF-33D0ED7E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62"/>
          </a:bodyPr>
          <a:lstStyle xmlns:a="http://schemas.openxmlformats.org/drawingml/2006/main">
            <a:def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B6F66"/>
                </a:solidFill>
                <a:latin typeface="Avenir Next"/>
                <a:ea typeface="Avenir Next"/>
                <a:cs typeface="Avenir Next"/>
              </a:rPr>
              <a:t>ReleaseGuard computes readiness, risk, blockers, and lifecycle status from the same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B43E0-B830-4095-86DE-E3EE837A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62175"/>
            <a:ext cx="6648450" cy="3505200"/>
          </a:xfrm>
          <a:prstGeom xmlns:a="http://schemas.openxmlformats.org/drawingml/2006/main" prst="roundRect">
            <a:avLst>
              <a:gd name="adj" fmla="val 3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4A531-EBF1-4D3D-80C2-F217B2DBC4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4e57b7513499a"/>
          <a:stretch xmlns:a="http://schemas.openxmlformats.org/drawingml/2006/main"/>
        </p:blipFill>
        <p:spPr>
          <a:xfrm xmlns:a="http://schemas.openxmlformats.org/drawingml/2006/main">
            <a:off x="4955665" y="2209800"/>
            <a:ext cx="6547870" cy="3409950"/>
          </a:xfrm>
          <a:prstGeom xmlns:a="http://schemas.openxmlformats.org/drawingml/2006/main" prst="roundRect">
            <a:avLst>
              <a:gd name="adj" fmla="val 223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9D512-659A-40D3-B9C7-C65A342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3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6994D1-C0AD-44D9-9FEC-45B886D8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34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maximum readiness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4B3132-D0FF-4B23-A9BE-F22F4EF6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53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A33C93-3D66-4CAD-8030-76CD0537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4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required evidence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705A5-5086-473A-96C3-1DCF38B1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4944D-9C26-4914-AD93-D28FF30C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3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explicit lifecycle outcomes</a:t>
            </a:r>
          </a:p>
        </p:txBody>
      </p:sp>
    </p:spTree>
    <p:extLst>
      <p:ext uri="{BB962C8B-B14F-4D97-AF65-F5344CB8AC3E}">
        <p14:creationId xmlns:p14="http://schemas.microsoft.com/office/powerpoint/2010/main" val="576227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314B1B-6C5B-4946-ABCD-17BF3AE2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DC344A-3700-40F6-B090-4043516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4540F-0A66-4EBF-9474-63B5A0AD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E0F2D-CD00-4510-B8F1-2E5F56E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Five explicit stages turn release evidence into a deployment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96BFF-30D1-4E6A-89CD-17B99FA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C411-43E2-4225-9A89-B2748E7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422E-A22E-43D0-B67B-A0F8255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19050">
            <a:solidFill>
              <a:srgbClr val="52708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00B2A-93CA-43C1-A59A-5B9EE1F9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678C7-6CB6-4DCB-A745-847CA66A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2E412-A18B-4930-9EFE-6A26CD56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Application, version, owner, and environment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8A82F-6283-43E5-BA1F-830081B5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19050">
            <a:solidFill>
              <a:srgbClr val="5270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69065-9F35-479F-A498-FEDEC809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2383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67886-1689-45C6-9017-E0248259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476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2A3F2-6F2A-4429-923E-BFF07861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9052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Tests, security, approval, backup, and rollback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95E05-57B6-4838-8281-6662B57F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B8A5"/>
          </a:solidFill>
          <a:ln xmlns:a="http://schemas.openxmlformats.org/drawingml/2006/main" w="19050">
            <a:solidFill>
              <a:srgbClr val="11B8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CB5C6-D69B-421C-8F05-31121843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383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54C3A-0713-4330-96B0-C14F68EA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76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ED44C-7F7C-4082-8DFE-FBD69C1C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Readiness score, risk level, and blockers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6447E-6CE6-4893-BC03-62420593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19050">
            <a:solidFill>
              <a:srgbClr val="52708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C38C2-AE72-42FC-9CE5-14B0B3BC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383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D91EF-0E61-4A97-89F6-E272783A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B5086-6CD7-481C-A768-8F9BA694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052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Controlled status transitions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7F871-56F1-4FE0-9D57-02813184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19050">
            <a:solidFill>
              <a:srgbClr val="52708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3B0C6-7EC7-4B6E-B146-9AE8C76D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2383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6F88A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696491-9D87-4F64-A39B-F741EC53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76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Record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05DDD-EF04-432D-89E4-5716B88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05250"/>
            <a:ext cx="1790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Success, failure, or rollback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8409E-4D5E-40C7-9BAD-C8F871CC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75CC2-3861-4CF7-AE0C-E5FB0F6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626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0–100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D0145-DD04-4451-87AA-3FF3B373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53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deterministic readiness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2EEBCE-DA4D-4599-AC81-8B068EB5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626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A5FCFF-E206-438C-B05F-D3C94134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53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environment-aware risk levels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471DDC-85C4-4C5C-82B9-49CA76C9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626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409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4D06F-93AF-40C4-B53A-9B6F7F5D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153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invalid transition response</a:t>
            </a:r>
          </a:p>
        </p:txBody>
      </p:sp>
    </p:spTree>
    <p:extLst>
      <p:ext uri="{BB962C8B-B14F-4D97-AF65-F5344CB8AC3E}">
        <p14:creationId xmlns:p14="http://schemas.microsoft.com/office/powerpoint/2010/main" val="1905781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1BFB4-E783-439E-B23F-847F9430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7F1A7-0694-446B-A0A9-80D1F840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6F5DE-BA30-4754-99E0-BFEA5B5B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End-to-end DevSecOps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78B2B-1E32-4E75-B4D2-2119D96F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Every layer is versioned, reproducible, and observable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2563D-F826-4D8A-A2E8-86C073D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038D-305E-4F8D-AFAB-C83C8117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292B1-B25B-4975-AE6A-C9C0262A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E300A-03B6-4667-8E52-CEAC8C5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Code and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5A353-E92F-4C57-9D26-0F3E9281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20A1D-6047-4A82-A663-46D0A929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14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EF5350"/>
                </a:solidFill>
                <a:latin typeface="Avenir Next"/>
                <a:ea typeface="Avenir Next"/>
                <a:cs typeface="Avenir Next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D0720-6D11-4F67-B6C2-FBC49667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GitHub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4D03-F0EC-41C7-8AF6-84F424F8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76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Tests, coverage, and Trivy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F7F7B-CB10-48F8-9DA2-AB85647B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CF2418-C7AB-49B5-982A-24F6E7CB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PACKAGE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E60399-20E1-4FFE-A278-2942D150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GHCR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4CBF0-292A-4A9E-9B42-7ED3D6D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Immutable SHA-tagged 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DC2EE-6DEB-4715-B8C3-F4B231AA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B5E12-9D70-4585-B133-3ACE7A56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RECONCILE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76047-827E-49CF-BC5D-53661793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384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Argo CD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8A447-2747-4E11-8BCD-72281E5C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Helm desired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468B4A-6EBA-4821-97CA-8F538F8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55A0D-8902-4C37-89E1-B95F766F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8648C-B052-4178-838F-8515944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Terraform on AWS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DB85DA-FA75-42E8-9E7F-5B8CCBAB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VPC, IAM, EKS control plane, and managed worker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75428F-9284-4005-873C-392E7260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957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63B560-B584-405E-BF17-75BA6F1C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624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Kubernetes + Helm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E31BC3-C707-4924-82D2-AB7F514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196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Frontend, backend, PostgreSQL, services, probes, and ingress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422F9-85EF-4EC6-BEC3-4FF5E2DF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95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9C2B7-C445-4CDB-9CEE-8D3D6114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Prometheus + Grafana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42A054-2CBD-4016-AB1F-B34E5C9F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Application metrics and operational visibility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97732-0CA7-4070-906A-5C98C17E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62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Developer commit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8B1867-0730-4109-AFAF-0DAAFB23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674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7A517-EE9C-458E-9D5B-575B205E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626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Observable deployment</a:t>
            </a:r>
          </a:p>
        </p:txBody>
      </p:sp>
    </p:spTree>
    <p:extLst>
      <p:ext uri="{BB962C8B-B14F-4D97-AF65-F5344CB8AC3E}">
        <p14:creationId xmlns:p14="http://schemas.microsoft.com/office/powerpoint/2010/main" val="10660894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5EB44-A682-40EE-83EA-435E6CB1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2A5EC-98F6-485B-AD43-21C85E33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01B1F-B09C-4909-AF43-4F78EE15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D6CF2-DD9A-4A60-AE12-C834FC7C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A compact toolchain covers application delivery, infrastructure, GitOps, and observability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36236-514A-44EF-BDF9-B3F42C04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5FE70-4814-4100-A21C-68F2A5EE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09E2E-1DEC-4C29-ACDA-C743FFB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51B63-BB92-4E3B-8EF9-3F1EA2B5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React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D348D-9D02-44B6-8975-8E90E744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FastAPI + 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C050E-A18D-4540-B978-FC6B631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1F00A-3E95-4FF1-8031-E30A3921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Alembic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66FFA-4DBF-45F1-9E63-1428CC4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8D1B4-6BB5-4028-B880-B3332D3D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F53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48EECB-8408-4BA4-B50C-E6EE7EE5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09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08FD0D-D3EF-4773-868C-960EAEC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Git +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5C7AD-65E6-40F5-97CC-15F4CCE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3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GitHub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51AD21-D5FB-4BC8-BBCC-58DDE4FA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Docker Compose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420EC-F8AF-492A-9163-E63B029C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86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Trivy + GHCR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B7460-6976-482F-93A7-75581C1C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7DFE9-34BA-4196-BED2-8B53D29F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942AC-CE2F-4153-870A-275C442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50213-2893-430A-960A-48F2482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Terraform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78CBEF-61FC-430B-B1EC-2EEB788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3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AWS VPC + EKS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92FAD-F7A6-4987-B290-C15DEF5C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Kubernetes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B6F20-82F7-4551-857D-1533BB9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86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Helm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C3C77-75BC-4AA4-B606-A5A8B6B5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E9A2E-C2B3-4F28-A5A7-02EDE5EC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C3C114-62DF-4123-9019-28E1CD4E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AEE9A-2A36-4D06-B4B3-BC42490F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14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Argo CD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810404-DDE2-4237-A3B8-01AD3C55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38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Prometheus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A4D16E-AD99-4E6F-AEE4-DC6B106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62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Grafana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410694-958B-4527-8570-386EA5E6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863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Health probes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7D7FF-4EF7-40AE-B96C-B08064E8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460D0C-0222-4852-A310-6E109D88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6D1DF"/>
                </a:solidFill>
                <a:latin typeface="Avenir Next"/>
                <a:ea typeface="Avenir Next"/>
                <a:cs typeface="Avenir Next"/>
              </a:rPr>
              <a:t>One Git history drives build, security scanning, deployment, reconciliation, and monitoring</a:t>
            </a:r>
          </a:p>
        </p:txBody>
      </p:sp>
    </p:spTree>
    <p:extLst>
      <p:ext uri="{BB962C8B-B14F-4D97-AF65-F5344CB8AC3E}">
        <p14:creationId xmlns:p14="http://schemas.microsoft.com/office/powerpoint/2010/main" val="1574952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E6891E-6A66-471C-88C5-FE93D367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E3E81-0737-44A6-81EB-8C587515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D1A3C-7B12-4CDD-8D7B-9C137617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CI/CD and security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6640E-2214-4604-BBDF-C62973B6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Only tested, scanned, immutable images reach the registry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772519-BE1F-4822-9B64-5B649AC3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C6EF2-982B-44D4-B619-FDD08DB0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95500"/>
            <a:ext cx="6877050" cy="3848100"/>
          </a:xfrm>
          <a:prstGeom xmlns:a="http://schemas.openxmlformats.org/drawingml/2006/main" prst="roundRect">
            <a:avLst>
              <a:gd name="adj" fmla="val 3465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3B1CA-551F-4B21-A6D9-9B506AF438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2307773784e85"/>
          <a:stretch xmlns:a="http://schemas.openxmlformats.org/drawingml/2006/main"/>
        </p:blipFill>
        <p:spPr>
          <a:xfrm xmlns:a="http://schemas.openxmlformats.org/drawingml/2006/main">
            <a:off x="685800" y="2144535"/>
            <a:ext cx="6781800" cy="3750030"/>
          </a:xfrm>
          <a:prstGeom xmlns:a="http://schemas.openxmlformats.org/drawingml/2006/main" prst="roundRect">
            <a:avLst>
              <a:gd name="adj" fmla="val 20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713EF-83B7-4A76-9859-8708C370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52650"/>
            <a:ext cx="1428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54705-42FF-43C5-91CD-D80FFB28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45EB3"/>
                </a:solidFill>
                <a:latin typeface="Avenir Next"/>
                <a:ea typeface="Avenir Next"/>
                <a:cs typeface="Avenir Next"/>
              </a:rPr>
              <a:t>VERIFIED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03B8C-7B60-4F4B-93B7-417824C3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D6D70-0A9E-4358-B04B-407D45FE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backend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82591-EC02-403A-92C2-7EBC79B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289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D43F5-36F2-4DA4-9A6E-EEDEF72C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19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coverage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D8FB0-B4C7-468A-A2CE-566094CB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B1115-033C-4871-A908-C0325EA8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990975"/>
            <a:ext cx="3714750" cy="2019300"/>
          </a:xfrm>
          <a:prstGeom xmlns:a="http://schemas.openxmlformats.org/drawingml/2006/main" prst="roundRect">
            <a:avLst>
              <a:gd name="adj" fmla="val 660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6CBB8-905F-4BA5-9D51-B77E87773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d42cce2644247"/>
          <a:stretch xmlns:a="http://schemas.openxmlformats.org/drawingml/2006/main"/>
        </p:blipFill>
        <p:spPr>
          <a:xfrm xmlns:a="http://schemas.openxmlformats.org/drawingml/2006/main">
            <a:off x="8175635" y="4038600"/>
            <a:ext cx="3041630" cy="1924050"/>
          </a:xfrm>
          <a:prstGeom xmlns:a="http://schemas.openxmlformats.org/drawingml/2006/main" prst="roundRect">
            <a:avLst>
              <a:gd name="adj" fmla="val 3960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1F8A4-6C42-435E-A5DF-B155EA72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1722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0B7F73"/>
                </a:solidFill>
                <a:latin typeface="Avenir Next"/>
                <a:ea typeface="Avenir Next"/>
                <a:cs typeface="Avenir Next"/>
              </a:rPr>
              <a:t>0 HIGH / CRITICAL FINDINGS</a:t>
            </a:r>
          </a:p>
        </p:txBody>
      </p:sp>
    </p:spTree>
    <p:extLst>
      <p:ext uri="{BB962C8B-B14F-4D97-AF65-F5344CB8AC3E}">
        <p14:creationId xmlns:p14="http://schemas.microsoft.com/office/powerpoint/2010/main" val="277948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66622-C412-46AE-B992-DAFFC7D0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3CA62-7493-4A97-A6EC-3200DF7D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8931E-92EB-4718-8C35-C6EC04E7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Infrastructure as code on 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5A083-0855-41D0-A475-86C325D2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Terraform created the environment, captured evidence, and removed every project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DF4964-6B92-468D-AF63-B8B6EAD6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98F1B-76D1-4932-BE67-E800C2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VPC 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6839C-EC13-445C-AD2B-E9BE8934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EKS control plane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248D0-486E-4B3B-B8CC-2398BF77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520065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35E12-B7E1-446D-B934-49E887629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8d516e21f4992"/>
          <a:stretch xmlns:a="http://schemas.openxmlformats.org/drawingml/2006/main"/>
        </p:blipFill>
        <p:spPr>
          <a:xfrm xmlns:a="http://schemas.openxmlformats.org/drawingml/2006/main">
            <a:off x="696170" y="2457450"/>
            <a:ext cx="5084659" cy="264795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E4287-1557-400A-81ED-4D48F7C9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09825"/>
            <a:ext cx="5372100" cy="2743200"/>
          </a:xfrm>
          <a:prstGeom xmlns:a="http://schemas.openxmlformats.org/drawingml/2006/main" prst="roundRect">
            <a:avLst>
              <a:gd name="adj" fmla="val 48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D82E8-AACD-4163-A796-374B7DA80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2cefeaa094713"/>
          <a:stretch xmlns:a="http://schemas.openxmlformats.org/drawingml/2006/main"/>
        </p:blipFill>
        <p:spPr>
          <a:xfrm xmlns:a="http://schemas.openxmlformats.org/drawingml/2006/main">
            <a:off x="6325445" y="2457450"/>
            <a:ext cx="5084659" cy="2647950"/>
          </a:xfrm>
          <a:prstGeom xmlns:a="http://schemas.openxmlformats.org/drawingml/2006/main" prst="roundRect">
            <a:avLst>
              <a:gd name="adj" fmla="val 287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1092C-4343-4E5B-AD23-310819A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35"/>
          </a:bodyPr>
          <a:lstStyle xmlns:a="http://schemas.openxmlformats.org/drawingml/2006/main">
            <a:def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10.20.0.0/16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8085A-D47A-4F06-AEF3-B9D5EFFD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project VPC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81BA4-0783-4C9D-8326-7A5092E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5A524"/>
                </a:solidFill>
                <a:latin typeface="Avenir Next"/>
                <a:ea typeface="Avenir Next"/>
                <a:cs typeface="Avenir Next"/>
              </a:rPr>
              <a:t>1.35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BE386D-2101-4AEF-A2AF-427665F3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962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Kubernetes 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2A093-FA81-4889-B258-461C7A0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2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377B9-2F78-4368-81E6-E7D14C9C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62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managed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047B7-2B72-4CD0-9D69-99A3D90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7210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rPr>
              <a:t>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B70D6F-3D6B-4CE5-9FE0-C7297FBF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626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resources destroyed</a:t>
            </a:r>
          </a:p>
        </p:txBody>
      </p:sp>
    </p:spTree>
    <p:extLst>
      <p:ext uri="{BB962C8B-B14F-4D97-AF65-F5344CB8AC3E}">
        <p14:creationId xmlns:p14="http://schemas.microsoft.com/office/powerpoint/2010/main" val="596106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1C74C-9F22-436D-88EE-D78B7DB2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C371B-01CF-4EED-ACBF-E32B0797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E9C157-5DCA-4218-9ACD-E191F591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Kubernetes delivery with Helm and Argo CD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5872E-10FC-43CF-9C7F-AEC1ECF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Desired state lives in Git, while Argo CD synchronizes and repairs the cluster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6C70B-324B-4224-9A42-455F2F83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F02BE-BC17-4256-8FDD-C0907770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52675"/>
            <a:ext cx="7029450" cy="3257550"/>
          </a:xfrm>
          <a:prstGeom xmlns:a="http://schemas.openxmlformats.org/drawingml/2006/main" prst="roundRect">
            <a:avLst>
              <a:gd name="adj" fmla="val 4094"/>
            </a:avLst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1C685-7E6E-46B0-9550-333BEE80C9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b43d2dd0e41fb"/>
          <a:stretch xmlns:a="http://schemas.openxmlformats.org/drawingml/2006/main"/>
        </p:blipFill>
        <p:spPr>
          <a:xfrm xmlns:a="http://schemas.openxmlformats.org/drawingml/2006/main">
            <a:off x="685800" y="2594610"/>
            <a:ext cx="6934200" cy="2773680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E33DC-43C6-4733-8BE2-CE29675B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GITOPS CONTROL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3DB6E-4762-4EC3-BF1A-E38AF389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861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2F0DA7-CF2B-440C-AA01-FAF1D43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AC21D-1FBE-4AB6-A0DA-48226C8C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47396-B98E-41DB-9E12-EC63800B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Helm chart and values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F9141-AB09-4606-86D7-57B18511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2E109-5180-4E08-B8AA-36B86C00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71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6724B-2517-499C-94D8-B0B314D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71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Argo CD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9AA5-5667-47C6-A80C-E05CE8AD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338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Sync, prune, and self-heal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353FC4-A285-471F-A2C1-DE4ED59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7839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E7A46-4C99-4C9D-948B-CCF71D3B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00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6FB83-21F9-4395-BCD9-77AAA32C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62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Desired state reconciled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00A48-E14D-45E1-B6EC-55D1A634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7150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B0E52-A1D5-436A-B58F-5BFB0A7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43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526075"/>
                </a:solidFill>
                <a:latin typeface="Avenir Next"/>
                <a:ea typeface="Avenir Next"/>
                <a:cs typeface="Avenir Next"/>
              </a:rPr>
              <a:t>2 frontend   2 backend   1 database</a:t>
            </a:r>
          </a:p>
        </p:txBody>
      </p:sp>
    </p:spTree>
    <p:extLst>
      <p:ext uri="{BB962C8B-B14F-4D97-AF65-F5344CB8AC3E}">
        <p14:creationId xmlns:p14="http://schemas.microsoft.com/office/powerpoint/2010/main" val="1862559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96B59-064F-4E58-AB33-9162D277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AB926-D91B-4EC5-9984-6EE43516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8BC56-8537-40DB-9285-E408EFBC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Observability closes the feedback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39239-0464-4ABC-908E-A5119424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Prometheus scrapes application metrics and Grafana turns them into operational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E6BE8-C5F3-4ACD-BFB6-F67C2746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2600A-9648-43D9-A149-B1C0B941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LIVE APPLICATION METRICS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B274-2185-4B86-AFA4-FE10476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48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Every deployment remains measurable after 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47C72-8C2E-4B80-A60E-EF61841F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22C55E"/>
                </a:solidFill>
                <a:latin typeface="Avenir Next"/>
                <a:ea typeface="Avenir Next"/>
                <a:cs typeface="Avenir Next"/>
              </a:rPr>
              <a:t>1 /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C0280-D76F-44DB-9747-E2C5D792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Prometheus target 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B6612-D46F-410C-B986-5C309EF2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3B82F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7FE99-E2BF-4F0F-A9C9-376BC4B5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provisioned Grafana panels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552F7-4301-4915-B1D9-1CE91789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/health   /ready   /metrics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E5400-BDB4-4015-A108-9335A071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05025"/>
            <a:ext cx="7315200" cy="3886200"/>
          </a:xfrm>
          <a:prstGeom xmlns:a="http://schemas.openxmlformats.org/drawingml/2006/main" prst="roundRect">
            <a:avLst>
              <a:gd name="adj" fmla="val 3431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27364A"/>
            </a:solidFill>
            <a:prstDash val="solid"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2D2C7-6BB7-4016-A6F9-A3A16B146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ab2e976424a29"/>
          <a:stretch xmlns:a="http://schemas.openxmlformats.org/drawingml/2006/main"/>
        </p:blipFill>
        <p:spPr>
          <a:xfrm xmlns:a="http://schemas.openxmlformats.org/drawingml/2006/main">
            <a:off x="4286250" y="2163739"/>
            <a:ext cx="7219950" cy="3768772"/>
          </a:xfrm>
          <a:prstGeom xmlns:a="http://schemas.openxmlformats.org/drawingml/2006/main" prst="roundRect">
            <a:avLst>
              <a:gd name="adj" fmla="val 201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42DCD-C3C3-4CDB-9E11-32E5F1CD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1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Request count, throughput, and average latency</a:t>
            </a:r>
          </a:p>
        </p:txBody>
      </p:sp>
    </p:spTree>
    <p:extLst>
      <p:ext uri="{BB962C8B-B14F-4D97-AF65-F5344CB8AC3E}">
        <p14:creationId xmlns:p14="http://schemas.microsoft.com/office/powerpoint/2010/main" val="18948171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B1A550-CBDE-4EC6-BC2B-056427A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RELEASEGUARD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D3F9C-7406-45DE-9BB8-1257949A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8EA0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FEAEA-F62A-4AD7-97A8-9CE83666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What I learned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542BD-EB2F-4B36-A5D0-37AEF780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The project connects application code to infrastructure, security, delivery, and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AE2DB-6D16-40FD-B687-FE831F9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8E091-E607-4B90-BACE-B7E1D48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A58F9-E17E-4993-A8CD-D84EB0A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Delivery is a feedback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E834E-021D-49BB-BB7E-EA1F357C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Tests, scans, reconciliation, and metrics continuously validate the release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3BB8F-8FEF-495C-B485-43BE6E9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6E11A-1D7B-4C53-BB59-6DCA9B45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Artifacts must be traceable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6D293-1986-41FD-889C-BEF4D758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28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Commit-SHA image tags connect source code to the deployed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19030-8987-4F56-B49A-D3B0E6A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95DFE-4456-43AC-A9E2-E7FB3C6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14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Operations start in the codebase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47246-1FD9-4D67-98C8-093394E9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Health endpoints and metrics belong beside application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84C79A-BE9B-4EF6-9919-DB8486C3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D8DA7E-C8BC-4AC2-8782-A0B647CA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Cloud evidence needs teardown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46F75-CC43-4DB1-B7AB-018F60F0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529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A9B6C7"/>
                </a:solidFill>
                <a:latin typeface="Avenir Next"/>
                <a:ea typeface="Avenir Next"/>
                <a:cs typeface="Avenir Next"/>
              </a:rPr>
              <a:t>The final state matters as much as the successful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9CB9B-64B7-4AAC-B743-F16C4A4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DF9FC-225F-4A9A-A76D-D65AC72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B8A5"/>
                </a:solidFill>
                <a:latin typeface="Avenir Next"/>
                <a:ea typeface="Avenir Next"/>
                <a:cs typeface="Avenir Next"/>
              </a:rPr>
              <a:t>DEMO 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D8572-DE0D-4031-9607-6C13F1A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Architecture and codebase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DC20A-3A9E-40EA-9D5E-1F1752C3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62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GitHub Actions and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D2161B-3050-4EF3-9242-CBDE27C5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62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AWS and GitOps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70F15-6E3B-4E98-B7B5-79106301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62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Prometheus, Grafana, teardown</a:t>
            </a:r>
          </a:p>
        </p:txBody>
      </p:sp>
    </p:spTree>
    <p:extLst>
      <p:ext uri="{BB962C8B-B14F-4D97-AF65-F5344CB8AC3E}">
        <p14:creationId xmlns:p14="http://schemas.microsoft.com/office/powerpoint/2010/main" val="688319085"/>
      </p:ext>
    </p:extLst>
  </p:cSld>
</p:sld>
</file>

<file path=ppt/theme/theme1.xml><?xml version="1.0" encoding="utf-8"?>
<a:theme xmlns:a="http://schemas.openxmlformats.org/drawingml/2006/main" name="ReleaseGuard">
  <a:themeElements>
    <a:clrScheme name="ReleaseGuard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ReleaseGuar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PowerPoint</ap:Application>
  <ap:PresentationFormat>Widescreen</ap:PresentationFormat>
  <ap:Slides>10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Nipun Patel</dc:creator>
  <lastModifiedBy>Nipun Patel</lastModifiedBy>
  <dc:title>ReleaseGuard DevSecOps Capstone</dc:title>
  <dcterms:created xsi:type="dcterms:W3CDTF">2026-10-17T06:54:10.9830000Z</dcterms:created>
  <dcterms:modified xsi:type="dcterms:W3CDTF">2026-10-17T06:54:10.9830000Z</dcterms:modified>
</coreProperties>
</file>