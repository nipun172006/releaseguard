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47b485b524ba2" /><Relationship Type="http://schemas.openxmlformats.org/officeDocument/2006/relationships/extended-properties" Target="/docProps/app.xml" Id="R21b5aae1b8ce4687" /><Relationship Type="http://schemas.openxmlformats.org/officeDocument/2006/relationships/officeDocument" Target="/ppt/presentation.xml" Id="R96373c8dd1c9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69728a1ce34c46"/>
  </p:sldMasterIdLst>
  <p:notesMasterIdLst>
    <p:notesMasterId xmlns:r="http://schemas.openxmlformats.org/officeDocument/2006/relationships" r:id="R98714c4dfcca4013"/>
  </p:notesMasterIdLst>
  <p:sldIdLst>
    <p:sldId xmlns:r="http://schemas.openxmlformats.org/officeDocument/2006/relationships" id="256" r:id="R350d56de8f724083"/>
    <p:sldId xmlns:r="http://schemas.openxmlformats.org/officeDocument/2006/relationships" id="257" r:id="Ra1db162bb3cc4811"/>
    <p:sldId xmlns:r="http://schemas.openxmlformats.org/officeDocument/2006/relationships" id="258" r:id="Ra43f730d6e274e27"/>
    <p:sldId xmlns:r="http://schemas.openxmlformats.org/officeDocument/2006/relationships" id="259" r:id="R9d1be7b63de147a0"/>
    <p:sldId xmlns:r="http://schemas.openxmlformats.org/officeDocument/2006/relationships" id="260" r:id="R872fd7c1417c46f1"/>
    <p:sldId xmlns:r="http://schemas.openxmlformats.org/officeDocument/2006/relationships" id="261" r:id="R0f0e56108bf4415d"/>
    <p:sldId xmlns:r="http://schemas.openxmlformats.org/officeDocument/2006/relationships" id="262" r:id="R2874e62079434d06"/>
    <p:sldId xmlns:r="http://schemas.openxmlformats.org/officeDocument/2006/relationships" id="263" r:id="R725ebce3aef4457c"/>
    <p:sldId xmlns:r="http://schemas.openxmlformats.org/officeDocument/2006/relationships" id="264" r:id="R4da3e8a3160a455c"/>
    <p:sldId xmlns:r="http://schemas.openxmlformats.org/officeDocument/2006/relationships" id="265" r:id="R6b57955ab49a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b5627993394b05" /><Relationship Type="http://schemas.openxmlformats.org/officeDocument/2006/relationships/slideMaster" Target="/ppt/slideMasters/slideMaster1.xml" Id="Ra069728a1ce34c46" /><Relationship Type="http://schemas.openxmlformats.org/officeDocument/2006/relationships/notesMaster" Target="/ppt/notesMasters/notesMaster1.xml" Id="R98714c4dfcca4013" /><Relationship Type="http://schemas.openxmlformats.org/officeDocument/2006/relationships/presProps" Target="/ppt/presProps.xml" Id="R6fe29e9fbbdb49a7" /><Relationship Type="http://schemas.openxmlformats.org/officeDocument/2006/relationships/tableStyles" Target="/ppt/tableStyles.xml" Id="Rb6e6f774d1954a7a" /><Relationship Type="http://schemas.openxmlformats.org/officeDocument/2006/relationships/slide" Target="/ppt/slides/slide1.xml" Id="R350d56de8f724083" /><Relationship Type="http://schemas.openxmlformats.org/officeDocument/2006/relationships/slide" Target="/ppt/slides/slide2.xml" Id="Ra1db162bb3cc4811" /><Relationship Type="http://schemas.openxmlformats.org/officeDocument/2006/relationships/slide" Target="/ppt/slides/slide3.xml" Id="Ra43f730d6e274e27" /><Relationship Type="http://schemas.openxmlformats.org/officeDocument/2006/relationships/slide" Target="/ppt/slides/slide4.xml" Id="R9d1be7b63de147a0" /><Relationship Type="http://schemas.openxmlformats.org/officeDocument/2006/relationships/slide" Target="/ppt/slides/slide5.xml" Id="R872fd7c1417c46f1" /><Relationship Type="http://schemas.openxmlformats.org/officeDocument/2006/relationships/slide" Target="/ppt/slides/slide6.xml" Id="R0f0e56108bf4415d" /><Relationship Type="http://schemas.openxmlformats.org/officeDocument/2006/relationships/slide" Target="/ppt/slides/slide7.xml" Id="R2874e62079434d06" /><Relationship Type="http://schemas.openxmlformats.org/officeDocument/2006/relationships/slide" Target="/ppt/slides/slide8.xml" Id="R725ebce3aef4457c" /><Relationship Type="http://schemas.openxmlformats.org/officeDocument/2006/relationships/slide" Target="/ppt/slides/slide9.xml" Id="R4da3e8a3160a455c" /><Relationship Type="http://schemas.openxmlformats.org/officeDocument/2006/relationships/slide" Target="/ppt/slides/slide10.xml" Id="R6b57955ab49a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cbfb39682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b24aa603ec4aeb" /><Relationship Type="http://schemas.openxmlformats.org/officeDocument/2006/relationships/notesMaster" Target="/ppt/notesMasters/notesMaster1.xml" Id="R40a9ef066a83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d4335673b94009" /><Relationship Type="http://schemas.openxmlformats.org/officeDocument/2006/relationships/notesMaster" Target="/ppt/notesMasters/notesMaster1.xml" Id="R2b2df6047b6d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7ec2fd6af4d97" /><Relationship Type="http://schemas.openxmlformats.org/officeDocument/2006/relationships/notesMaster" Target="/ppt/notesMasters/notesMaster1.xml" Id="R00311026218a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dbdd167134196" /><Relationship Type="http://schemas.openxmlformats.org/officeDocument/2006/relationships/notesMaster" Target="/ppt/notesMasters/notesMaster1.xml" Id="R85f659496e91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3c46bf47e40b2" /><Relationship Type="http://schemas.openxmlformats.org/officeDocument/2006/relationships/notesMaster" Target="/ppt/notesMasters/notesMaster1.xml" Id="R72c9bf095dae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5478257d094bbf" /><Relationship Type="http://schemas.openxmlformats.org/officeDocument/2006/relationships/notesMaster" Target="/ppt/notesMasters/notesMaster1.xml" Id="R8cccf1ffc10747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b3a77d97ca42fd" /><Relationship Type="http://schemas.openxmlformats.org/officeDocument/2006/relationships/notesMaster" Target="/ppt/notesMasters/notesMaster1.xml" Id="R7afd261bb8d0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76653c3ba74848" /><Relationship Type="http://schemas.openxmlformats.org/officeDocument/2006/relationships/notesMaster" Target="/ppt/notesMasters/notesMaster1.xml" Id="Refb7293cfc8c4a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a82e32cc0049a5" /><Relationship Type="http://schemas.openxmlformats.org/officeDocument/2006/relationships/notesMaster" Target="/ppt/notesMasters/notesMaster1.xml" Id="Rab12523d630e4d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fcf469df434988" /><Relationship Type="http://schemas.openxmlformats.org/officeDocument/2006/relationships/notesMaster" Target="/ppt/notesMasters/notesMaster1.xml" Id="Ra8f9f36bc998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e0f4c48524b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d8fb1791345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fda82966a4a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f570f37d34e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5bcddd68b4e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5f79bbbca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147F11-8527-434A-B9BF-04F99BEC0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D381C9-8956-470F-B6FA-1E1EE7EE20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32D771-ABC2-4AE8-9D69-E10799E6F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82C449-1BCD-48CC-B48D-4EEEFCF73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2DF52D-96E6-4A2F-AEDE-10416B74F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CCC332-8623-4321-8BD1-9A106A352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5BC781-FEB4-4B70-9E6F-1A4EB1F78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3E84AA-D28C-4686-A17C-FCB7523C0A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52BDB2-CB2C-4ADD-B8A9-2BE0267CB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5C4903-65FE-4846-96B9-F741065A9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7919bddc94c8f" /><Relationship Type="http://schemas.openxmlformats.org/officeDocument/2006/relationships/slideLayout" Target="/ppt/slideLayouts/slideLayout1.xml" Id="R1e83c6a122424c1f" /><Relationship Type="http://schemas.openxmlformats.org/officeDocument/2006/relationships/slideLayout" Target="/ppt/slideLayouts/slideLayout2.xml" Id="R71d7888e7a9549a6" /><Relationship Type="http://schemas.openxmlformats.org/officeDocument/2006/relationships/slideLayout" Target="/ppt/slideLayouts/slideLayout3.xml" Id="R11b405994028479c" /><Relationship Type="http://schemas.openxmlformats.org/officeDocument/2006/relationships/slideLayout" Target="/ppt/slideLayouts/slideLayout4.xml" Id="Rb48bcce9f1f94893" /><Relationship Type="http://schemas.openxmlformats.org/officeDocument/2006/relationships/slideLayout" Target="/ppt/slideLayouts/slideLayout5.xml" Id="Re08427cd904a4c15" /><Relationship Type="http://schemas.openxmlformats.org/officeDocument/2006/relationships/slideLayout" Target="/ppt/slideLayouts/slideLayout6.xml" Id="Rb6f84cfaa797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3c6a122424c1f"/>
    <p:sldLayoutId xmlns:r="http://schemas.openxmlformats.org/officeDocument/2006/relationships" id="2147483650" r:id="R71d7888e7a9549a6"/>
    <p:sldLayoutId xmlns:r="http://schemas.openxmlformats.org/officeDocument/2006/relationships" id="2147483651" r:id="R11b405994028479c"/>
    <p:sldLayoutId xmlns:r="http://schemas.openxmlformats.org/officeDocument/2006/relationships" id="2147483652" r:id="Rb48bcce9f1f94893"/>
    <p:sldLayoutId xmlns:r="http://schemas.openxmlformats.org/officeDocument/2006/relationships" id="2147483653" r:id="Re08427cd904a4c15"/>
    <p:sldLayoutId xmlns:r="http://schemas.openxmlformats.org/officeDocument/2006/relationships" id="2147483654" r:id="Rb6f84cfaa797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ff0b559fc41fd" /><Relationship Type="http://schemas.openxmlformats.org/officeDocument/2006/relationships/notesSlide" Target="/ppt/notesSlides/notesSlide1.xml" Id="R57801458feaa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523560565487a" /><Relationship Type="http://schemas.openxmlformats.org/officeDocument/2006/relationships/image" Target="/ppt/media/image.png" Id="R8a34ae7f471a4ce9" /><Relationship Type="http://schemas.openxmlformats.org/officeDocument/2006/relationships/notesSlide" Target="/ppt/notesSlides/notesSlide2.xml" Id="R7673e8da3ef04b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8f72efc6f47e7" /><Relationship Type="http://schemas.openxmlformats.org/officeDocument/2006/relationships/notesSlide" Target="/ppt/notesSlides/notesSlide3.xml" Id="R0389965ccf7d4b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df2ee4cbf424a" /><Relationship Type="http://schemas.openxmlformats.org/officeDocument/2006/relationships/notesSlide" Target="/ppt/notesSlides/notesSlide4.xml" Id="R319dec058771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da63cfb20402d" /><Relationship Type="http://schemas.openxmlformats.org/officeDocument/2006/relationships/notesSlide" Target="/ppt/notesSlides/notesSlide5.xml" Id="R471659c7811c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eb9a9360743af" /><Relationship Type="http://schemas.openxmlformats.org/officeDocument/2006/relationships/notesSlide" Target="/ppt/notesSlides/notesSlide6.xml" Id="R93ef999eb46e44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489b9bcb7420f" /><Relationship Type="http://schemas.openxmlformats.org/officeDocument/2006/relationships/image" Target="/ppt/media/image2.png" Id="R34d9983df77b4a8c" /><Relationship Type="http://schemas.openxmlformats.org/officeDocument/2006/relationships/notesSlide" Target="/ppt/notesSlides/notesSlide7.xml" Id="Rd842fc6627d8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edcdb944341c8" /><Relationship Type="http://schemas.openxmlformats.org/officeDocument/2006/relationships/image" Target="/ppt/media/image3.png" Id="R38bbc53c93314726" /><Relationship Type="http://schemas.openxmlformats.org/officeDocument/2006/relationships/notesSlide" Target="/ppt/notesSlides/notesSlide8.xml" Id="Rdf1fbe44d7ff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2fd3b80924ca5" /><Relationship Type="http://schemas.openxmlformats.org/officeDocument/2006/relationships/notesSlide" Target="/ppt/notesSlides/notesSlide9.xml" Id="R9d8f81a228904a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f996cde5c41fd" /><Relationship Type="http://schemas.openxmlformats.org/officeDocument/2006/relationships/notesSlide" Target="/ppt/notesSlides/notesSlide10.xml" Id="R8868dd22f60648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153BE-04FC-4504-9A3C-01A02F27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6B590-0A95-4B93-8655-A900BB2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3429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F2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E19C5-A57B-4DD7-9616-EE0C341A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57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C4CD-F8F3-43F6-9296-6997B4F9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62375"/>
            <a:ext cx="323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4E992-C1A9-4AB5-9476-B7977B3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DEVSECOPS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3196B-517F-4612-8F20-052B9EF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ReleaseGuard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DF637-D3A9-47BB-8F5A-BDFFBD79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Deployment readiness and</a:t>
            </a:r>
          </a:p>
          <a:p xmlns:a="http://schemas.openxmlformats.org/drawingml/2006/main"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release-risk control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C3D19-1A38-4036-9828-29E5F68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Ship only when the evidence says ready.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7FE5A-E646-4E54-9EB7-84E8FEB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React  •  FastAPI  •  PostgreSQL  •  Docker  •  Kubernetes  •  AWS 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ABD07-01F2-4AFA-ACD4-CE3E48A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DevOps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213991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120C6-05B8-4965-B457-E1C4B0E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4E52-ABB6-4754-BBF6-A2EA569A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From informal approval to explainable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CCA85-1643-4401-B844-3994D1A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shared view turns release evidence into a clear deployment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510C0-FEEB-49AC-B5B7-BD76F36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FF0A9-7075-4B89-8A82-C6ACA65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07803-8DFD-487C-8711-EAA91FA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Teams approve releases through chat, memory, and disconnected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9CB7C-8B44-42EF-A042-C0F1545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569"/>
                </a:solidFill>
                <a:latin typeface="Arial"/>
                <a:ea typeface="Arial"/>
                <a:cs typeface="Arial"/>
              </a:rPr>
              <a:t>Mandatory tests or security scans can be missed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569"/>
                </a:solidFill>
                <a:latin typeface="Arial"/>
                <a:ea typeface="Arial"/>
                <a:cs typeface="Arial"/>
              </a:rPr>
              <a:t>Production approval and backup evidence stay invisible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 decisions are difficult to explain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7487A-8A77-44CF-AA58-A41A7AF8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4F8C4-8FEE-4F8D-8BAA-4C8716C6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E3F2B-5D2D-41B0-9940-9C31ADDF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97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deterministic score, risk level, blockers, and lifecycle status for every release.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AF6F9-5947-4813-9E4F-70E3127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09775"/>
            <a:ext cx="626745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8DA5D-AD86-4667-80A1-A442AD555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4ae7f471a4ce9"/>
          <a:stretch xmlns:a="http://schemas.openxmlformats.org/drawingml/2006/main"/>
        </p:blipFill>
        <p:spPr>
          <a:xfrm xmlns:a="http://schemas.openxmlformats.org/drawingml/2006/main">
            <a:off x="5387433" y="2047875"/>
            <a:ext cx="6179634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80898-B3FB-4FE9-9B92-917B40D9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8491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E6CBE-3DDD-4032-A1F8-AFB14491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0673-9F06-4874-972A-B8ED69A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6324C-CDC0-4079-99A0-91A12424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ReleaseGuard is the decision layer around deployment, not the deployment engine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F6416-A7FF-4ABE-A619-C50DAB5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FD94D-669C-45B1-B296-5B0A417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CBDD0-8C56-40CE-909F-6D187BF8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85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3B028-A26A-4D88-A18C-4B9E36AC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1.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CA7D6-CBF0-4D37-BC1C-43DC7DF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App, version, owner,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520F9-9C0A-40FD-88B3-55CC2F89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C3AB3-9C84-46B2-8067-C1E7525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885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644C3-0453-41F4-B9CF-67142CD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2.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683D7-1A85-4FE1-AF5E-E1BD88A9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Tests, scan, approval, backup,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2DA72-6717-4ED7-8F4D-4D6392E2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AC28C-6888-4B68-975A-F88EA2C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885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813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E7E7C-CC80-42CB-8B87-216B7F9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Evaluate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4F5E7-A99E-4BC4-8428-2D62A22D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Score, risk level, blockers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75606-186C-413E-B0F7-E74E6D00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33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52FB2-4C41-4BE5-8B0B-79C060F7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1885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0E28D-AE28-4D2C-9763-C1984BE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4.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6198C-7A0E-49CC-ACD1-018A538E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DRAFT → READY → DEPLOYING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8860D-5160-419E-8F3D-E417189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885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A9318-FDD9-496D-AD09-FE41974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5.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409ED-1518-45BD-99B3-E679C1E3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SUCCESS, FAILED, or ROLLED_BACK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D00C9-7263-4F0D-A039-0AFED3C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Readiness is transparent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4F900-65F0-4E64-B080-CDBCEEAC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Five weighted checks produce a score from 0 to 100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Environment-aware rules classify LOW, MEDIUM, HIGH, or CRITICAL risk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Invalid lifecycle transitions return a clear 409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C1D2A-1340-4AE4-B14B-5C50D4B6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5290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ABC89-91B1-422E-9174-C727D02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C2125-E21C-4ECF-9DAD-99C1817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76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maximum readiness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6A872-330F-48A8-B936-AAF1FA86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9587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B8CC3-3B96-4871-A892-B134040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86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explicit readiness 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C3A6E-623F-4C90-92DC-868D4EF5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0732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B1A300-EA5D-4514-A553-D90051E5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039C-EF40-4488-BBBF-0D86460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End-to-end DevSecOps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36F9-822B-4F11-BD93-B38E361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Every layer is versioned, reproducible, and observable.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6188B-9FC2-496C-A292-ADE6945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95CCA-AF1E-494C-9112-1B003D5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966AF-3324-4610-8B86-56E60A2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EA583-A614-4D76-AC1B-8140715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698B1-CA12-4732-BAE3-4D0D3A82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63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GitHub repository + pull/push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39B2B-1DF4-4AAD-B936-25F049D6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669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8791D-6237-4202-8BFE-3FD947EC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58DB3-C085-422D-A9CD-AEE3176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95F36-9469-442D-AEED-7A21EAF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7799B-89F3-4358-BD64-9FCBF59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050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CI security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A03F2-8ECB-4EA4-B60D-D70D0CB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1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Tests → coverage → Docker → Trivy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B53E3-8C73-4770-A470-5B2B2EB2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669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5BF59-231E-445C-99CC-AD7A31E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B3DD6-5919-4124-8AB6-CA36AA6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F8D4B-3D37-423A-B373-B30395D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F87DF-B179-426B-858B-FEA73C0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050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Artifact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51589-8FC2-4CF7-B643-92E84270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Immutable Git-SHA images in GHCR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C8029-29B5-481D-8015-582F3D6C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669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80634-9F6C-495E-A5EA-493D5BF5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DBD54-D32C-4603-A17D-CF514DD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52625"/>
            <a:ext cx="24574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EC386-37D2-49C0-89C4-5E11FEBC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526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307E7-E93E-45DC-A719-112CBECB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050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GitOps 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A2D45-CFBF-4197-93A8-1F8481D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907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Helm values + Argo CD Application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F4432-4AF6-4B01-B4C1-53B2196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669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B50E81-BE15-4D85-A384-FA2D9DA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E495F-CE4D-417D-AB37-56D99718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861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8AD34-7603-45E7-B068-272A01F2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ABEC0-342E-4A91-82FC-8E4F2BB4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813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32325C-5D88-406C-99B2-97336B0C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AWS CLOUD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7C316-05F6-4694-8DE6-599671E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B007EC-FADA-4614-B477-60CCE8D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VPC • subnets • IAM • EKS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3473C0-501F-4793-8AAD-9F10066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147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5422E-FAF5-47F2-8C5A-B747879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005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 + Helm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7DFB88-6920-48C9-8E10-1A5AC948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1007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2 frontend • 2 backend • PostgreSQL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Services • probes • Ingress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418D14-4EEA-4308-9390-7E814DB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C5B7F-DC44-4C84-86D3-7F0CFBA4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2806CA-34F1-4CF0-ADE4-FD974B94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00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Prometheus scrapes /metrics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Grafana visualizes service health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1888E-A6D4-4802-A857-510A2D1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Developer → GitHub Actions → GHCR → Argo CD → EKS → Prometheus / Grafana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350FB-70E5-45DF-8641-F20A604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8129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32FD1-C8E3-4090-A6ED-F326B4B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B8E19-F28C-4820-9CE0-CFB1F27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77BCA-9E40-4C2B-A035-C9603DB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compact stack selected to demonstrate the full delivery lifecycle.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9EB50-9E19-4F98-8F84-08EFBE0A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4F36C-9ADF-474D-AF51-32230D7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7F775-089A-4B76-AB09-9EE8EDB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12CA1-11C1-4A83-992A-D81749A2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FastAPI + Python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Alembic migrations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C8691-EA28-4121-9A6D-25B55BAD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7FD96-445F-4885-B36A-2C7D787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F3353-7B69-4313-9683-9893C1E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3CEBA-5F8F-4BC7-8DA4-283056D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Git + GitHub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GitHub Actions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Docker + Compose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Trivy + GHCR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59E54-590C-44AA-853A-46C4261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A4055-C6F8-408F-92E7-7EF8ACE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EB115-852B-4FF8-AB2B-D82548A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3732E-820C-49F7-964B-78B9580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Terraform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AWS VPC + EKS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Kubernetes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Helm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3CA0A-01C3-4E67-A53E-1CBA27E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42B90-DEFA-45FD-AE17-2BD0E1B5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5ED9E-3A53-449A-B3BA-056BE693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6FB3C-28D4-4808-B796-70DDF0C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Argo CD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Prometheus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Grafana</a:t>
            </a:r>
          </a:p>
          <a:p xmlns:a="http://schemas.openxmlformats.org/drawingml/2006/main">
            <a:pPr marL="203200" indent="-101600">
              <a:spcAft>
                <a:spcPts val="1500"/>
              </a:spcAft>
              <a:buChar char="•"/>
              <a:defRPr sz="157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F172A"/>
                </a:solidFill>
                <a:latin typeface="Arial"/>
                <a:ea typeface="Arial"/>
                <a:cs typeface="Arial"/>
              </a:rPr>
              <a:t>Health + readiness probes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7F7B7-8A42-4782-8F46-4BBDF3D9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10249-BB2A-4935-829C-777F98AC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959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Use the same Git history to build, scan, deploy, reconcile, and observe the application.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A48AC-470D-4D1C-BD05-9ECF497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9693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83C195-E8AA-4AA1-9858-81E2FA2F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089F2-5318-4788-B2EB-E61273A2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CI/CD and security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E0046-C0D3-4773-87CF-3641435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Only verified, scanned, immutable images are published.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9D7FE-8D11-4072-A308-A85E2C1C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95AC5-2441-4D63-81D2-C4F11964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55916-F3F8-4104-B897-ECE108D6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50309-B773-4CB9-ABC6-D2EDB91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071A3-44ED-4B9C-A235-C1EF6352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6AB81-F1AC-42DA-B570-6B6958D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Push to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6B783-8718-4B68-BB7C-FC295C6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9A4AA-F7BE-4452-A6B0-C597CA1B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D3151-C0AE-43DD-904D-569A9493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FD002-C6CB-48D3-B29E-C01EC65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58C16-A2BD-46E2-A00C-C8E439D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 tests +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52B35-5577-419A-8DF9-7A0F687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F432A-13B5-4CE2-8FE5-8B53981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50E13-38A6-4BD8-8DA6-6B3A7DC7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F7439-EBB3-431D-BD27-AF54FDF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736CC-A70E-4384-BDBC-78E42392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90% coverage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A005E-6E1C-4F60-A30E-E89C23D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11B9D-5B43-478B-BC54-4909675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70418-7FE9-46EA-95E3-ECFCE72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9C6BB-18FB-4767-8176-DF019DC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B2441-E2C8-49EB-B73D-0071248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Backend + 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3B6E1-1D6B-4EA2-BA74-E4F8C7C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450555-33E8-4143-A69C-F2860D3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2B08C-A420-46C8-97D4-5805624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F95961-0675-4402-91D2-4441140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815A1-F97F-42D0-A03E-422B53C0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Trivy filesystem +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B29E2-E0D2-4F83-8183-946565F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EC4AC-87A3-42CE-9244-7CB837AD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A4237-CADB-474B-BB2E-5E83EDF5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098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204436-E115-47F1-92C2-C8C34609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52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Git-SHA tags to GHCR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7B142-DD54-4557-BE48-C66AB365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Security is part of delivery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EAA1B4-07E9-4427-A84C-472B22EA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9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Pinned Python and JavaScript dependency trees improve repeatability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Non-root application containers reduce runtime privilege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F172A"/>
                </a:solidFill>
                <a:latin typeface="Arial"/>
                <a:ea typeface="Arial"/>
                <a:cs typeface="Arial"/>
              </a:rPr>
              <a:t>High and critical vulnerabilities fail the pipeline before publishing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8737B-E7D0-4069-8F01-AA68DA6E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BAA5E1-97A6-4FA4-89F6-D5133DCF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291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36E4D8-DCED-4AB7-93DC-F291896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backend 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BFBAF-F49B-4B08-A6ED-22483020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482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05F3E3-6989-443A-B1B2-F530046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48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coverage 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F961A-7229-4E6D-80B4-F763388C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3147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0728C-E88F-40B1-9D46-B9E8317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67774-C8D6-416C-8669-B96CE3E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Infrastructure as code on AWS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DCC90-CA8D-4178-BCED-063953C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Terraform created a temporary, evidence-backed EKS environment and then removed it safely.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FBD85-73F4-423D-8EF2-6D8A840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B0CEB-E11C-4ABA-8269-34F399F8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6362700" cy="4124325"/>
          </a:xfrm>
          <a:prstGeom xmlns:a="http://schemas.openxmlformats.org/drawingml/2006/main" prst="roundRect">
            <a:avLst>
              <a:gd name="adj" fmla="val 27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3021C-D2B3-402B-8A4F-A92B18806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9983df77b4a8c"/>
          <a:stretch xmlns:a="http://schemas.openxmlformats.org/drawingml/2006/main"/>
        </p:blipFill>
        <p:spPr>
          <a:xfrm xmlns:a="http://schemas.openxmlformats.org/drawingml/2006/main">
            <a:off x="626249" y="2047875"/>
            <a:ext cx="6253201" cy="4048125"/>
          </a:xfrm>
          <a:prstGeom xmlns:a="http://schemas.openxmlformats.org/drawingml/2006/main" prst="roundRect">
            <a:avLst>
              <a:gd name="adj" fmla="val 188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EDBAC-D0B1-410A-AC9B-7FEF4DB8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VERIFIED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BF4D-D81F-42DF-89A0-51813ED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Reproducible AWS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47416-5910-4EC2-84F6-9051EF53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718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VPC with CIDR 10.20.0.0/16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Two public subnets across availability zones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EKS 1.35 control plane and managed node group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m7i-flex.large worker selected from account-eligible types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Plan applied, application verified, resources destroyed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16838-139B-46F0-ABFF-7A2F709E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619750"/>
            <a:ext cx="2457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566AA-CC13-4C0B-9DE0-CA044936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62927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46 RESOURCES DESTROYED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66CFC-A912-400A-A31E-D5F66D4C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1379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FCDEC-E039-43BB-8249-22033804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27D2-B373-4E7C-BBD2-E7CB485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Kubernetes delivery with Helm and Argo 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C4D85-82FE-4AB2-ABC4-0E19D76E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Declarative configuration keeps desired state in Git and repairs drift automatically.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EEE2C-5FDA-40C7-BD40-6491F7E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06DD9-7042-49DC-AD0B-9206183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26745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297EB-A90D-41FF-8904-FD5EA23CB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bc53c93314726"/>
          <a:stretch xmlns:a="http://schemas.openxmlformats.org/drawingml/2006/main"/>
        </p:blipFill>
        <p:spPr>
          <a:xfrm xmlns:a="http://schemas.openxmlformats.org/drawingml/2006/main">
            <a:off x="615408" y="2038350"/>
            <a:ext cx="6179634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837FB-40B8-43DB-A898-886607FF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GITOPS CONTROL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67A02-B9A4-4BF7-A287-9A6D3DA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99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E6C7A-3E34-4134-A5FD-37089589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3714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0A05A-A808-4961-B2A6-4C3CBC1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03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2C503-3AC1-40DC-882A-2F34F343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Helm chart +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CE9DB-DCEB-4AD6-AD2E-3DF48BB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1BC5A-6F50-484C-A99E-31EACD7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714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813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BCBE-65C9-497A-9A82-2A2344AC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290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Argo CD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1B3A2-0647-4DAA-BE0F-7CD1547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4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Sync, prune, self-heal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7EE8E-4683-45E3-BADD-AE59DE0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3714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EC69E-2061-443F-B300-4A42607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577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11D9C-6206-458D-8299-FF0D9EA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Desired state reconciled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1A134-051B-4810-8876-1892C39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38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2 frontend  •  2 backend  •  1 database  •  ClusterIP Services  •  Ingress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7DB40-6D62-4AE1-BE3E-445CDBF1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47107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22450-AAF3-43A3-B288-BDD409B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FFDEF-B3F7-4F68-96CC-574E5A91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Observability closes the feedback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A3C24-92A8-4E8A-A037-23A04B5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Health endpoints support orchestration; metrics explain application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0BA97-5D42-4779-8D7E-F3204C7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BC76D-1341-4D87-9A6A-A7A6820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813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A48C0-15BF-4A8A-B23C-5ABB399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299F5-B6A1-4F22-A40B-3228F675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622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E295B-E9AC-4CF9-82B7-8F1CDD0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9119-E0E9-41D9-870B-AA6D026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/health • /ready • /metrics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DD75-19CF-4ED8-918D-A1EAB2E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251DD-FE92-4E90-AA6F-7B8A83C9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622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3CF8E-1BD0-41A1-A6EB-EE0C18A6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Prometheus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73191-790C-4362-832D-975B03A3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scrape target =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AF0A1-ACAA-46E1-8873-A447800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3A9AD-7FE4-4AE9-B0ED-93F3D61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request count • rate • duration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56C9C-C9DD-4D12-9C96-68B570D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What the platform can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DC139-2B24-4867-9F26-6C1157F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Is the process alive and is the database reachable?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Is Prometheus successfully scraping the application?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How many requests are arriving and how long do they take?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8E7E7-3673-4027-8DA5-231D0C99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19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0591C-4E22-446A-B036-2140C193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13906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42D11-09B4-45CD-A976-5D76B58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TARGET 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CBCFC-941B-49E7-8E55-7780E5F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>
            <a:def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ED1C7-8483-4C06-9588-C9F86E9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provisioned Grafana panels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B282D-52B6-4CBB-A666-65B3F845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981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956D9-4810-4852-ABF8-90EA51A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RELEASEGUARD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B095D-34D6-4FE4-91B7-8415E36C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 and how I will demo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B1131-DCAC-4510-BC06-4C79DC2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8925F-B5CA-4093-B925-3A5409FE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KEY LEARNINGS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3EE8C-C995-406F-A26D-61810B8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857"/>
          </a:bodyPr>
          <a:lstStyle xmlns:a="http://schemas.openxmlformats.org/drawingml/2006/main">
            <a:def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DevSecOps is a chain of feedback loops, not a single tool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Immutable artifacts and GitOps make deployments repeatable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 probes and metrics are part of application design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Infrastructure evidence must end with a verified teardown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18811-CD00-4BD7-8BC0-D66C9D6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4BFD-B4F5-4319-994F-AD072115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LIVE DEMO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47572-9B3C-4878-90A8-11ED9B0D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Architecture and codebase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40485-8B49-456E-B7DE-717DBCE3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2  Push and GitHub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1481-E0B6-4A00-A376-B2721C8C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3  Terraform and AWS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2C3D3-4C55-4091-B74B-D756A83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4  Argo CD Synced /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741A5-5D3A-40EA-A35E-D82A6444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Pods, Services, Ingress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96503-52E9-4EB4-8D25-EA0951C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6  Prometheus target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CFC97-38DE-4ACA-9F17-551EB70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7  Grafana live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E2962-04B2-4F59-B5C1-0083638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8  Safe teardown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BF72E-5947-4785-90D9-B024203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510C4-8176-49B4-A280-399C246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Result: a complete application moved from local development to a secure CI pipeline, GitOps-managed Kubernetes, and observable AWS EKS.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CBEFF-A2E5-40E5-B42B-5FD41741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0162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2026-10-16T15:32:36.5640000Z</dcterms:created>
  <dcterms:modified xsi:type="dcterms:W3CDTF">2026-10-16T15:32:36.5650000Z</dcterms:modified>
</coreProperties>
</file>